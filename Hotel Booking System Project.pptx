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</p:sldIdLst>
  <p:sldSz cx="121793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1pPr>
    <a:lvl2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2pPr>
    <a:lvl3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3pPr>
    <a:lvl4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4pPr>
    <a:lvl5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5pPr>
    <a:lvl6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6pPr>
    <a:lvl7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7pPr>
    <a:lvl8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8pPr>
    <a:lvl9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2" name="Shape 9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1200">
        <a:latin typeface="+mj-lt"/>
        <a:ea typeface="+mj-ea"/>
        <a:cs typeface="+mj-cs"/>
        <a:sym typeface="Calibri"/>
      </a:defRPr>
    </a:lvl1pPr>
    <a:lvl2pPr indent="228600" defTabSz="457200" latinLnBrk="0">
      <a:defRPr sz="1200">
        <a:latin typeface="+mj-lt"/>
        <a:ea typeface="+mj-ea"/>
        <a:cs typeface="+mj-cs"/>
        <a:sym typeface="Calibri"/>
      </a:defRPr>
    </a:lvl2pPr>
    <a:lvl3pPr indent="457200" defTabSz="457200" latinLnBrk="0">
      <a:defRPr sz="1200">
        <a:latin typeface="+mj-lt"/>
        <a:ea typeface="+mj-ea"/>
        <a:cs typeface="+mj-cs"/>
        <a:sym typeface="Calibri"/>
      </a:defRPr>
    </a:lvl3pPr>
    <a:lvl4pPr indent="685800" defTabSz="457200" latinLnBrk="0">
      <a:defRPr sz="1200">
        <a:latin typeface="+mj-lt"/>
        <a:ea typeface="+mj-ea"/>
        <a:cs typeface="+mj-cs"/>
        <a:sym typeface="Calibri"/>
      </a:defRPr>
    </a:lvl4pPr>
    <a:lvl5pPr indent="914400" defTabSz="457200" latinLnBrk="0">
      <a:defRPr sz="1200">
        <a:latin typeface="+mj-lt"/>
        <a:ea typeface="+mj-ea"/>
        <a:cs typeface="+mj-cs"/>
        <a:sym typeface="Calibri"/>
      </a:defRPr>
    </a:lvl5pPr>
    <a:lvl6pPr indent="1143000" defTabSz="457200" latinLnBrk="0">
      <a:defRPr sz="1200">
        <a:latin typeface="+mj-lt"/>
        <a:ea typeface="+mj-ea"/>
        <a:cs typeface="+mj-cs"/>
        <a:sym typeface="Calibri"/>
      </a:defRPr>
    </a:lvl6pPr>
    <a:lvl7pPr indent="1371600" defTabSz="457200" latinLnBrk="0">
      <a:defRPr sz="1200">
        <a:latin typeface="+mj-lt"/>
        <a:ea typeface="+mj-ea"/>
        <a:cs typeface="+mj-cs"/>
        <a:sym typeface="Calibri"/>
      </a:defRPr>
    </a:lvl7pPr>
    <a:lvl8pPr indent="1600200" defTabSz="457200" latinLnBrk="0">
      <a:defRPr sz="1200">
        <a:latin typeface="+mj-lt"/>
        <a:ea typeface="+mj-ea"/>
        <a:cs typeface="+mj-cs"/>
        <a:sym typeface="Calibri"/>
      </a:defRPr>
    </a:lvl8pPr>
    <a:lvl9pPr indent="1828800" defTabSz="4572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1" name="Body Level One…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/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</p:spPr>
        <p:txBody>
          <a:bodyPr anchor="t"/>
          <a:lstStyle>
            <a:lvl1pPr algn="l">
              <a:defRPr b="1" cap="all" sz="4000"/>
            </a:lvl1pPr>
          </a:lstStyle>
          <a:p>
            <a:pPr/>
            <a:r>
              <a:t>Title Text</a:t>
            </a:r>
          </a:p>
        </p:txBody>
      </p:sp>
      <p:sp>
        <p:nvSpPr>
          <p:cNvPr id="30" name="Body Level One…"/>
          <p:cNvSpPr txBox="1"/>
          <p:nvPr>
            <p:ph type="body" sz="quarter" idx="1"/>
          </p:nvPr>
        </p:nvSpPr>
        <p:spPr>
          <a:xfrm>
            <a:off x="722312" y="2906713"/>
            <a:ext cx="7772401" cy="1500189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9" name="Body Level One…"/>
          <p:cNvSpPr txBox="1"/>
          <p:nvPr>
            <p:ph type="body"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8" indent="-320038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8" name="Body Level One…"/>
          <p:cNvSpPr txBox="1"/>
          <p:nvPr>
            <p:ph type="body" sz="quarter" idx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b="1" sz="2400"/>
            </a:lvl1pPr>
            <a:lvl2pPr marL="0" indent="0">
              <a:spcBef>
                <a:spcPts val="500"/>
              </a:spcBef>
              <a:buSzTx/>
              <a:buFontTx/>
              <a:buNone/>
              <a:defRPr b="1" sz="2400"/>
            </a:lvl2pPr>
            <a:lvl3pPr marL="0" indent="0">
              <a:spcBef>
                <a:spcPts val="500"/>
              </a:spcBef>
              <a:buSzTx/>
              <a:buFontTx/>
              <a:buNone/>
              <a:defRPr b="1" sz="2400"/>
            </a:lvl3pPr>
            <a:lvl4pPr marL="0" indent="0">
              <a:spcBef>
                <a:spcPts val="500"/>
              </a:spcBef>
              <a:buSzTx/>
              <a:buFontTx/>
              <a:buNone/>
              <a:defRPr b="1" sz="2400"/>
            </a:lvl4pPr>
            <a:lvl5pPr marL="0" indent="0">
              <a:spcBef>
                <a:spcPts val="500"/>
              </a:spcBef>
              <a:buSzTx/>
              <a:buFontTx/>
              <a:buNone/>
              <a:defRPr b="1"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/>
          <p:nvPr>
            <p:ph type="body" sz="quarter" idx="21"/>
          </p:nvPr>
        </p:nvSpPr>
        <p:spPr>
          <a:xfrm>
            <a:off x="4645025" y="1535112"/>
            <a:ext cx="4041775" cy="639764"/>
          </a:xfrm>
          <a:prstGeom prst="rect">
            <a:avLst/>
          </a:prstGeom>
        </p:spPr>
        <p:txBody>
          <a:bodyPr anchor="b"/>
          <a:lstStyle/>
          <a:p>
            <a:pPr/>
          </a:p>
        </p:txBody>
      </p:sp>
      <p:sp>
        <p:nvSpPr>
          <p:cNvPr id="5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/>
          <p:nvPr>
            <p:ph type="title"/>
          </p:nvPr>
        </p:nvSpPr>
        <p:spPr>
          <a:xfrm>
            <a:off x="457200" y="273050"/>
            <a:ext cx="3008315" cy="1162050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73" name="Body Level One…"/>
          <p:cNvSpPr txBox="1"/>
          <p:nvPr>
            <p:ph type="body" sz="half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/>
          <p:nvPr>
            <p:ph type="body" sz="quarter" idx="21"/>
          </p:nvPr>
        </p:nvSpPr>
        <p:spPr>
          <a:xfrm>
            <a:off x="457198" y="1435100"/>
            <a:ext cx="3008317" cy="4691063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7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/>
          <p:nvPr>
            <p:ph type="title"/>
          </p:nvPr>
        </p:nvSpPr>
        <p:spPr>
          <a:xfrm>
            <a:off x="1792288" y="4800600"/>
            <a:ext cx="5486402" cy="566738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83" name="Picture Placeholder 2"/>
          <p:cNvSpPr/>
          <p:nvPr>
            <p:ph type="pic" sz="half" idx="21"/>
          </p:nvPr>
        </p:nvSpPr>
        <p:spPr>
          <a:xfrm>
            <a:off x="1792288" y="612775"/>
            <a:ext cx="5486402" cy="4114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84" name="Body Level One…"/>
          <p:cNvSpPr txBox="1"/>
          <p:nvPr>
            <p:ph type="body" sz="quarter" idx="1"/>
          </p:nvPr>
        </p:nvSpPr>
        <p:spPr>
          <a:xfrm>
            <a:off x="1792288" y="5367337"/>
            <a:ext cx="5486402" cy="804864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0">
              <a:spcBef>
                <a:spcPts val="300"/>
              </a:spcBef>
              <a:buSzTx/>
              <a:buFontTx/>
              <a:buNone/>
              <a:defRPr sz="1400"/>
            </a:lvl2pPr>
            <a:lvl3pPr marL="0" indent="0">
              <a:spcBef>
                <a:spcPts val="300"/>
              </a:spcBef>
              <a:buSzTx/>
              <a:buFontTx/>
              <a:buNone/>
              <a:defRPr sz="1400"/>
            </a:lvl3pPr>
            <a:lvl4pPr marL="0" indent="0">
              <a:spcBef>
                <a:spcPts val="300"/>
              </a:spcBef>
              <a:buSzTx/>
              <a:buFontTx/>
              <a:buNone/>
              <a:defRPr sz="1400"/>
            </a:lvl4pPr>
            <a:lvl5pPr marL="0" indent="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1824780" y="769937"/>
            <a:ext cx="9743441" cy="16684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6797994" y="2438400"/>
            <a:ext cx="4770227" cy="4419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8428178" y="6414761"/>
            <a:ext cx="258623" cy="248303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 anchor="ctr">
            <a:spAutoFit/>
          </a:bodyPr>
          <a:lstStyle>
            <a:lvl1pPr algn="r">
              <a:defRPr sz="1200">
                <a:solidFill>
                  <a:srgbClr val="888888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xmlns:p14="http://schemas.microsoft.com/office/powerpoint/2010/main" spd="med" advClick="1"/>
  <p:txStyles>
    <p:titleStyle>
      <a:lvl1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titleStyle>
    <p:bodyStyle>
      <a:lvl1pPr marL="342900" marR="0" indent="-3429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83771" marR="0" indent="-326571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19200" marR="0" indent="-3048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373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945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517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1089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661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233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95" name="Rectangle 2"/>
          <p:cNvSpPr/>
          <p:nvPr/>
        </p:nvSpPr>
        <p:spPr>
          <a:xfrm>
            <a:off x="-1" y="-2"/>
            <a:ext cx="12191697" cy="137164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96" name="TextBox 3"/>
          <p:cNvSpPr txBox="1"/>
          <p:nvPr/>
        </p:nvSpPr>
        <p:spPr>
          <a:xfrm>
            <a:off x="960118" y="731520"/>
            <a:ext cx="10271459" cy="14249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b="1" sz="1200">
                <a:solidFill>
                  <a:srgbClr val="3B82F6"/>
                </a:solidFill>
                <a:latin typeface="Comic Sans MS"/>
                <a:ea typeface="Comic Sans MS"/>
                <a:cs typeface="Comic Sans MS"/>
                <a:sym typeface="Comic Sans MS"/>
              </a:defRPr>
            </a:pPr>
            <a:r>
              <a:t>JAVA TEAM PROJECT</a:t>
            </a:r>
          </a:p>
          <a:p>
            <a:pPr>
              <a:defRPr b="1" sz="360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defRPr>
            </a:pPr>
            <a:r>
              <a:t>Hotel Room Booking System</a:t>
            </a:r>
          </a:p>
          <a:p>
            <a:pPr>
              <a:defRPr sz="1600">
                <a:solidFill>
                  <a:srgbClr val="CBD5E1"/>
                </a:solidFill>
                <a:latin typeface="Comic Sans MS"/>
                <a:ea typeface="Comic Sans MS"/>
                <a:cs typeface="Comic Sans MS"/>
                <a:sym typeface="Comic Sans MS"/>
              </a:defRPr>
            </a:pPr>
            <a:r>
              <a:t>A Desktop GUI Application Built with Java Swing, OOP &amp; Collections Framework</a:t>
            </a:r>
          </a:p>
          <a:p>
            <a:pPr>
              <a:defRPr b="1" sz="1200">
                <a:solidFill>
                  <a:srgbClr val="94A3B8"/>
                </a:solidFill>
                <a:latin typeface="Comic Sans MS"/>
                <a:ea typeface="Comic Sans MS"/>
                <a:cs typeface="Comic Sans MS"/>
                <a:sym typeface="Comic Sans MS"/>
              </a:defRPr>
            </a:pPr>
            <a:r>
              <a:t>ITM SKILL UNIVERSITY  |  B.Tech CSE  |  Batch 2025–2029  |  Cohort: Jeff Bezos</a:t>
            </a:r>
          </a:p>
        </p:txBody>
      </p:sp>
      <p:sp>
        <p:nvSpPr>
          <p:cNvPr id="97" name="Rounded Rectangle 4"/>
          <p:cNvSpPr/>
          <p:nvPr/>
        </p:nvSpPr>
        <p:spPr>
          <a:xfrm>
            <a:off x="929485" y="3108960"/>
            <a:ext cx="1920242" cy="2286002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98" name="TextBox 5"/>
          <p:cNvSpPr txBox="1"/>
          <p:nvPr/>
        </p:nvSpPr>
        <p:spPr>
          <a:xfrm>
            <a:off x="1066646" y="3563437"/>
            <a:ext cx="1645922" cy="14757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algn="ctr">
              <a:defRPr b="1" sz="2000">
                <a:solidFill>
                  <a:srgbClr val="3B82F6"/>
                </a:solidFill>
                <a:latin typeface="Comic Sans MS"/>
                <a:ea typeface="Comic Sans MS"/>
                <a:cs typeface="Comic Sans MS"/>
                <a:sym typeface="Comic Sans MS"/>
              </a:defRPr>
            </a:pPr>
            <a:r>
              <a:t>01</a:t>
            </a:r>
          </a:p>
          <a:p>
            <a:pPr algn="ctr">
              <a:defRPr b="1" sz="140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defRPr>
            </a:pPr>
            <a:r>
              <a:t>Om Maurya</a:t>
            </a:r>
          </a:p>
          <a:p>
            <a:pPr algn="ctr">
              <a:defRPr b="1" sz="140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defRPr>
            </a:pPr>
          </a:p>
          <a:p>
            <a:pPr algn="ctr">
              <a:defRPr sz="1100">
                <a:solidFill>
                  <a:srgbClr val="CBD5E1"/>
                </a:solidFill>
                <a:latin typeface="Comic Sans MS"/>
                <a:ea typeface="Comic Sans MS"/>
                <a:cs typeface="Comic Sans MS"/>
                <a:sym typeface="Comic Sans MS"/>
              </a:defRPr>
            </a:pPr>
            <a:r>
              <a:t>150096725208</a:t>
            </a:r>
          </a:p>
          <a:p>
            <a:pPr algn="ctr">
              <a:defRPr sz="1000">
                <a:solidFill>
                  <a:srgbClr val="94A3B8"/>
                </a:solidFill>
                <a:latin typeface="Comic Sans MS"/>
                <a:ea typeface="Comic Sans MS"/>
                <a:cs typeface="Comic Sans MS"/>
                <a:sym typeface="Comic Sans MS"/>
              </a:defRPr>
            </a:pPr>
            <a:r>
              <a:t>B.Tech CSE</a:t>
            </a:r>
            <a:br/>
            <a:r>
              <a:t>Jeff Bezos</a:t>
            </a:r>
          </a:p>
        </p:txBody>
      </p:sp>
      <p:sp>
        <p:nvSpPr>
          <p:cNvPr id="99" name="Rounded Rectangle 6"/>
          <p:cNvSpPr/>
          <p:nvPr/>
        </p:nvSpPr>
        <p:spPr>
          <a:xfrm>
            <a:off x="3032605" y="3108960"/>
            <a:ext cx="1920242" cy="2286002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00" name="TextBox 7"/>
          <p:cNvSpPr txBox="1"/>
          <p:nvPr/>
        </p:nvSpPr>
        <p:spPr>
          <a:xfrm>
            <a:off x="3169766" y="3563437"/>
            <a:ext cx="1645922" cy="14757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algn="ctr">
              <a:defRPr b="1" sz="2000">
                <a:solidFill>
                  <a:srgbClr val="3B82F6"/>
                </a:solidFill>
                <a:latin typeface="Comic Sans MS"/>
                <a:ea typeface="Comic Sans MS"/>
                <a:cs typeface="Comic Sans MS"/>
                <a:sym typeface="Comic Sans MS"/>
              </a:defRPr>
            </a:pPr>
            <a:r>
              <a:t>02</a:t>
            </a:r>
          </a:p>
          <a:p>
            <a:pPr algn="ctr">
              <a:defRPr b="1" sz="140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defRPr>
            </a:pPr>
            <a:r>
              <a:t>Om Sawant</a:t>
            </a:r>
          </a:p>
          <a:p>
            <a:pPr algn="ctr">
              <a:defRPr b="1" sz="140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defRPr>
            </a:pPr>
          </a:p>
          <a:p>
            <a:pPr algn="ctr">
              <a:defRPr sz="1100">
                <a:solidFill>
                  <a:srgbClr val="CBD5E1"/>
                </a:solidFill>
                <a:latin typeface="Comic Sans MS"/>
                <a:ea typeface="Comic Sans MS"/>
                <a:cs typeface="Comic Sans MS"/>
                <a:sym typeface="Comic Sans MS"/>
              </a:defRPr>
            </a:pPr>
            <a:r>
              <a:t>150096725194</a:t>
            </a:r>
          </a:p>
          <a:p>
            <a:pPr algn="ctr">
              <a:defRPr sz="1000">
                <a:solidFill>
                  <a:srgbClr val="94A3B8"/>
                </a:solidFill>
                <a:latin typeface="Comic Sans MS"/>
                <a:ea typeface="Comic Sans MS"/>
                <a:cs typeface="Comic Sans MS"/>
                <a:sym typeface="Comic Sans MS"/>
              </a:defRPr>
            </a:pPr>
            <a:r>
              <a:t>B.Tech CSE</a:t>
            </a:r>
            <a:br/>
            <a:r>
              <a:t>Jeff Bezos</a:t>
            </a:r>
          </a:p>
        </p:txBody>
      </p:sp>
      <p:sp>
        <p:nvSpPr>
          <p:cNvPr id="101" name="Rounded Rectangle 8"/>
          <p:cNvSpPr/>
          <p:nvPr/>
        </p:nvSpPr>
        <p:spPr>
          <a:xfrm>
            <a:off x="5135726" y="3108960"/>
            <a:ext cx="1920241" cy="2286002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02" name="TextBox 9"/>
          <p:cNvSpPr txBox="1"/>
          <p:nvPr/>
        </p:nvSpPr>
        <p:spPr>
          <a:xfrm>
            <a:off x="5272885" y="3563437"/>
            <a:ext cx="1645922" cy="14757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algn="ctr">
              <a:defRPr b="1" sz="2000">
                <a:solidFill>
                  <a:srgbClr val="3B82F6"/>
                </a:solidFill>
                <a:latin typeface="Comic Sans MS"/>
                <a:ea typeface="Comic Sans MS"/>
                <a:cs typeface="Comic Sans MS"/>
                <a:sym typeface="Comic Sans MS"/>
              </a:defRPr>
            </a:pPr>
            <a:r>
              <a:t>03</a:t>
            </a:r>
          </a:p>
          <a:p>
            <a:pPr algn="ctr">
              <a:defRPr b="1" sz="140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defRPr>
            </a:pPr>
            <a:r>
              <a:t>Prince Singh</a:t>
            </a:r>
          </a:p>
          <a:p>
            <a:pPr algn="ctr">
              <a:defRPr b="1" sz="140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defRPr>
            </a:pPr>
          </a:p>
          <a:p>
            <a:pPr algn="ctr">
              <a:defRPr sz="1100">
                <a:solidFill>
                  <a:srgbClr val="CBD5E1"/>
                </a:solidFill>
                <a:latin typeface="Comic Sans MS"/>
                <a:ea typeface="Comic Sans MS"/>
                <a:cs typeface="Comic Sans MS"/>
                <a:sym typeface="Comic Sans MS"/>
              </a:defRPr>
            </a:pPr>
            <a:r>
              <a:t>150096725168</a:t>
            </a:r>
          </a:p>
          <a:p>
            <a:pPr algn="ctr">
              <a:defRPr sz="1000">
                <a:solidFill>
                  <a:srgbClr val="94A3B8"/>
                </a:solidFill>
                <a:latin typeface="Comic Sans MS"/>
                <a:ea typeface="Comic Sans MS"/>
                <a:cs typeface="Comic Sans MS"/>
                <a:sym typeface="Comic Sans MS"/>
              </a:defRPr>
            </a:pPr>
            <a:r>
              <a:t>B.Tech CSE</a:t>
            </a:r>
            <a:br/>
            <a:r>
              <a:t>Jeff Bezos</a:t>
            </a:r>
          </a:p>
        </p:txBody>
      </p:sp>
      <p:sp>
        <p:nvSpPr>
          <p:cNvPr id="103" name="Rounded Rectangle 10"/>
          <p:cNvSpPr/>
          <p:nvPr/>
        </p:nvSpPr>
        <p:spPr>
          <a:xfrm>
            <a:off x="7238847" y="3108960"/>
            <a:ext cx="1920242" cy="2286002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04" name="TextBox 11"/>
          <p:cNvSpPr txBox="1"/>
          <p:nvPr/>
        </p:nvSpPr>
        <p:spPr>
          <a:xfrm>
            <a:off x="7376006" y="3563437"/>
            <a:ext cx="1645922" cy="14757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algn="ctr">
              <a:defRPr b="1" sz="2000">
                <a:solidFill>
                  <a:srgbClr val="3B82F6"/>
                </a:solidFill>
                <a:latin typeface="Comic Sans MS"/>
                <a:ea typeface="Comic Sans MS"/>
                <a:cs typeface="Comic Sans MS"/>
                <a:sym typeface="Comic Sans MS"/>
              </a:defRPr>
            </a:pPr>
            <a:r>
              <a:t>04</a:t>
            </a:r>
          </a:p>
          <a:p>
            <a:pPr algn="ctr">
              <a:defRPr b="1" sz="140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defRPr>
            </a:pPr>
            <a:r>
              <a:t>Kushal Nakrani</a:t>
            </a:r>
          </a:p>
          <a:p>
            <a:pPr algn="ctr">
              <a:defRPr b="1" sz="140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defRPr>
            </a:pPr>
          </a:p>
          <a:p>
            <a:pPr algn="ctr">
              <a:defRPr sz="1100">
                <a:solidFill>
                  <a:srgbClr val="CBD5E1"/>
                </a:solidFill>
                <a:latin typeface="Comic Sans MS"/>
                <a:ea typeface="Comic Sans MS"/>
                <a:cs typeface="Comic Sans MS"/>
                <a:sym typeface="Comic Sans MS"/>
              </a:defRPr>
            </a:pPr>
            <a:r>
              <a:t>150096725176</a:t>
            </a:r>
          </a:p>
          <a:p>
            <a:pPr algn="ctr">
              <a:defRPr sz="1000">
                <a:solidFill>
                  <a:srgbClr val="94A3B8"/>
                </a:solidFill>
                <a:latin typeface="Comic Sans MS"/>
                <a:ea typeface="Comic Sans MS"/>
                <a:cs typeface="Comic Sans MS"/>
                <a:sym typeface="Comic Sans MS"/>
              </a:defRPr>
            </a:pPr>
            <a:r>
              <a:t>B.Tech CSE</a:t>
            </a:r>
            <a:br/>
            <a:r>
              <a:t>Jeff Bezos</a:t>
            </a:r>
          </a:p>
        </p:txBody>
      </p:sp>
      <p:sp>
        <p:nvSpPr>
          <p:cNvPr id="105" name="Rounded Rectangle 12"/>
          <p:cNvSpPr/>
          <p:nvPr/>
        </p:nvSpPr>
        <p:spPr>
          <a:xfrm>
            <a:off x="9341966" y="3108960"/>
            <a:ext cx="1920242" cy="2286002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06" name="TextBox 13"/>
          <p:cNvSpPr txBox="1"/>
          <p:nvPr/>
        </p:nvSpPr>
        <p:spPr>
          <a:xfrm>
            <a:off x="9479126" y="3563437"/>
            <a:ext cx="1645922" cy="14757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algn="ctr">
              <a:defRPr b="1" sz="2000">
                <a:solidFill>
                  <a:srgbClr val="3B82F6"/>
                </a:solidFill>
                <a:latin typeface="Comic Sans MS"/>
                <a:ea typeface="Comic Sans MS"/>
                <a:cs typeface="Comic Sans MS"/>
                <a:sym typeface="Comic Sans MS"/>
              </a:defRPr>
            </a:pPr>
            <a:r>
              <a:t>05</a:t>
            </a:r>
          </a:p>
          <a:p>
            <a:pPr algn="ctr">
              <a:defRPr b="1" sz="140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defRPr>
            </a:pPr>
            <a:r>
              <a:t>Vyom Shah</a:t>
            </a:r>
          </a:p>
          <a:p>
            <a:pPr algn="ctr">
              <a:defRPr b="1" sz="140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defRPr>
            </a:pPr>
          </a:p>
          <a:p>
            <a:pPr algn="ctr">
              <a:defRPr sz="1100">
                <a:solidFill>
                  <a:srgbClr val="CBD5E1"/>
                </a:solidFill>
                <a:latin typeface="Comic Sans MS"/>
                <a:ea typeface="Comic Sans MS"/>
                <a:cs typeface="Comic Sans MS"/>
                <a:sym typeface="Comic Sans MS"/>
              </a:defRPr>
            </a:pPr>
            <a:r>
              <a:t>150096725053</a:t>
            </a:r>
          </a:p>
          <a:p>
            <a:pPr algn="ctr">
              <a:defRPr sz="1000">
                <a:solidFill>
                  <a:srgbClr val="94A3B8"/>
                </a:solidFill>
                <a:latin typeface="Comic Sans MS"/>
                <a:ea typeface="Comic Sans MS"/>
                <a:cs typeface="Comic Sans MS"/>
                <a:sym typeface="Comic Sans MS"/>
              </a:defRPr>
            </a:pPr>
            <a:r>
              <a:t>B.Tech CSE</a:t>
            </a:r>
            <a:br/>
            <a:r>
              <a:t>Jeff Bezos</a:t>
            </a:r>
          </a:p>
        </p:txBody>
      </p:sp>
      <p:sp>
        <p:nvSpPr>
          <p:cNvPr id="107" name="TextBox 14"/>
          <p:cNvSpPr txBox="1"/>
          <p:nvPr/>
        </p:nvSpPr>
        <p:spPr>
          <a:xfrm>
            <a:off x="2664411" y="5852160"/>
            <a:ext cx="6862870" cy="294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 algn="ctr">
              <a:defRPr b="1" sz="1200">
                <a:solidFill>
                  <a:srgbClr val="3B82F6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1pPr>
          </a:lstStyle>
          <a:p>
            <a:pPr/>
            <a:r>
              <a:t>Java Swing  |  OOP Principles  |  Collections Framework  |  Date API  |  Regex Validation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10" name="TextBox 2"/>
          <p:cNvSpPr txBox="1"/>
          <p:nvPr/>
        </p:nvSpPr>
        <p:spPr>
          <a:xfrm>
            <a:off x="731519" y="365758"/>
            <a:ext cx="10698482" cy="596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000">
                <a:solidFill>
                  <a:srgbClr val="2563EB"/>
                </a:solidFill>
                <a:latin typeface="Comic Sans MS"/>
                <a:ea typeface="Comic Sans MS"/>
                <a:cs typeface="Comic Sans MS"/>
                <a:sym typeface="Comic Sans MS"/>
              </a:defRPr>
            </a:pPr>
            <a:r>
              <a:t>SLIDE 02  |  HOTEL ROOM BOOKING SYSTEM</a:t>
            </a:r>
          </a:p>
          <a:p>
            <a:pPr>
              <a:defRPr b="1" sz="2400">
                <a:solidFill>
                  <a:srgbClr val="0F172A"/>
                </a:solidFill>
                <a:latin typeface="Comic Sans MS"/>
                <a:ea typeface="Comic Sans MS"/>
                <a:cs typeface="Comic Sans MS"/>
                <a:sym typeface="Comic Sans MS"/>
              </a:defRPr>
            </a:pPr>
            <a:r>
              <a:t>Project Introduction &amp; Objectives</a:t>
            </a:r>
          </a:p>
        </p:txBody>
      </p:sp>
      <p:sp>
        <p:nvSpPr>
          <p:cNvPr id="111" name="Rectangle 3"/>
          <p:cNvSpPr/>
          <p:nvPr/>
        </p:nvSpPr>
        <p:spPr>
          <a:xfrm>
            <a:off x="731518" y="1142999"/>
            <a:ext cx="10728659" cy="18291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12" name="TextBox 4"/>
          <p:cNvSpPr txBox="1"/>
          <p:nvPr/>
        </p:nvSpPr>
        <p:spPr>
          <a:xfrm>
            <a:off x="777238" y="6400800"/>
            <a:ext cx="2862799" cy="2059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sz="900">
                <a:solidFill>
                  <a:srgbClr val="64748B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ITM SKILL UNIVERSITY  |  B.Tech CSE 2025–2029 (Jeff Bezos)</a:t>
            </a:r>
          </a:p>
        </p:txBody>
      </p:sp>
      <p:sp>
        <p:nvSpPr>
          <p:cNvPr id="113" name="Rounded Rectangle 5"/>
          <p:cNvSpPr/>
          <p:nvPr/>
        </p:nvSpPr>
        <p:spPr>
          <a:xfrm>
            <a:off x="731519" y="1371600"/>
            <a:ext cx="5212082" cy="210312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14" name="TextBox 6"/>
          <p:cNvSpPr txBox="1"/>
          <p:nvPr/>
        </p:nvSpPr>
        <p:spPr>
          <a:xfrm>
            <a:off x="960118" y="1554480"/>
            <a:ext cx="4754884" cy="17424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marL="213893" indent="-213893">
              <a:buSzPct val="100000"/>
              <a:buAutoNum type="arabicPeriod" startAt="1"/>
              <a:defRPr b="1" sz="1600">
                <a:solidFill>
                  <a:srgbClr val="2563EB"/>
                </a:solidFill>
                <a:latin typeface="Comic Sans MS"/>
                <a:ea typeface="Comic Sans MS"/>
                <a:cs typeface="Comic Sans MS"/>
                <a:sym typeface="Comic Sans MS"/>
              </a:defRPr>
            </a:pPr>
            <a:r>
              <a:t>What is it?</a:t>
            </a:r>
          </a:p>
          <a:p>
            <a:pPr>
              <a:defRPr b="1" sz="1600">
                <a:solidFill>
                  <a:srgbClr val="2563EB"/>
                </a:solidFill>
                <a:latin typeface="Comic Sans MS"/>
                <a:ea typeface="Comic Sans MS"/>
                <a:cs typeface="Comic Sans MS"/>
                <a:sym typeface="Comic Sans MS"/>
              </a:defRPr>
            </a:pPr>
          </a:p>
          <a:p>
            <a:pPr>
              <a:defRPr sz="1500">
                <a:solidFill>
                  <a:srgbClr val="334155"/>
                </a:solidFill>
                <a:latin typeface="Comic Sans MS"/>
                <a:ea typeface="Comic Sans MS"/>
                <a:cs typeface="Comic Sans MS"/>
                <a:sym typeface="Comic Sans MS"/>
              </a:defRPr>
            </a:pPr>
            <a:r>
              <a:t>A desktop GUI application engineered in Java Swing for front-desk hotel operations—managing room catalogs, searching rooms, reservations, and cancellations.</a:t>
            </a:r>
          </a:p>
        </p:txBody>
      </p:sp>
      <p:sp>
        <p:nvSpPr>
          <p:cNvPr id="115" name="Rounded Rectangle 7"/>
          <p:cNvSpPr/>
          <p:nvPr/>
        </p:nvSpPr>
        <p:spPr>
          <a:xfrm>
            <a:off x="6217920" y="1371600"/>
            <a:ext cx="5212080" cy="210312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16" name="TextBox 8"/>
          <p:cNvSpPr txBox="1"/>
          <p:nvPr/>
        </p:nvSpPr>
        <p:spPr>
          <a:xfrm>
            <a:off x="6446518" y="1554479"/>
            <a:ext cx="4754884" cy="14757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b="1" sz="1600">
                <a:solidFill>
                  <a:srgbClr val="1E40AF"/>
                </a:solidFill>
                <a:latin typeface="Comic Sans MS"/>
                <a:ea typeface="Comic Sans MS"/>
                <a:cs typeface="Comic Sans MS"/>
                <a:sym typeface="Comic Sans MS"/>
              </a:defRPr>
            </a:pPr>
            <a:r>
              <a:t>2. Problem Solved</a:t>
            </a:r>
          </a:p>
          <a:p>
            <a:pPr>
              <a:defRPr b="1" sz="1600">
                <a:solidFill>
                  <a:srgbClr val="1E40AF"/>
                </a:solidFill>
                <a:latin typeface="Comic Sans MS"/>
                <a:ea typeface="Comic Sans MS"/>
                <a:cs typeface="Comic Sans MS"/>
                <a:sym typeface="Comic Sans MS"/>
              </a:defRPr>
            </a:pPr>
          </a:p>
          <a:p>
            <a:pPr>
              <a:defRPr sz="1500">
                <a:solidFill>
                  <a:srgbClr val="334155"/>
                </a:solidFill>
                <a:latin typeface="Comic Sans MS"/>
                <a:ea typeface="Comic Sans MS"/>
                <a:cs typeface="Comic Sans MS"/>
                <a:sym typeface="Comic Sans MS"/>
              </a:defRPr>
            </a:pPr>
            <a:r>
              <a:t>Eliminates manual ledger tracking errors, prevents room double-booking, accelerates search lookups, and validates guest contact details.</a:t>
            </a:r>
          </a:p>
        </p:txBody>
      </p:sp>
      <p:sp>
        <p:nvSpPr>
          <p:cNvPr id="117" name="Rounded Rectangle 9"/>
          <p:cNvSpPr/>
          <p:nvPr/>
        </p:nvSpPr>
        <p:spPr>
          <a:xfrm>
            <a:off x="731519" y="3749037"/>
            <a:ext cx="5212082" cy="2103123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18" name="TextBox 10"/>
          <p:cNvSpPr txBox="1"/>
          <p:nvPr/>
        </p:nvSpPr>
        <p:spPr>
          <a:xfrm>
            <a:off x="960118" y="3931921"/>
            <a:ext cx="4754884" cy="17424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b="1" sz="1600">
                <a:solidFill>
                  <a:srgbClr val="2563EB"/>
                </a:solidFill>
                <a:latin typeface="Comic Sans MS"/>
                <a:ea typeface="Comic Sans MS"/>
                <a:cs typeface="Comic Sans MS"/>
                <a:sym typeface="Comic Sans MS"/>
              </a:defRPr>
            </a:pPr>
            <a:r>
              <a:t>3. Core Objective</a:t>
            </a:r>
          </a:p>
          <a:p>
            <a:pPr>
              <a:defRPr b="1" sz="1600">
                <a:solidFill>
                  <a:srgbClr val="2563EB"/>
                </a:solidFill>
                <a:latin typeface="Comic Sans MS"/>
                <a:ea typeface="Comic Sans MS"/>
                <a:cs typeface="Comic Sans MS"/>
                <a:sym typeface="Comic Sans MS"/>
              </a:defRPr>
            </a:pPr>
          </a:p>
          <a:p>
            <a:pPr>
              <a:defRPr sz="1500">
                <a:solidFill>
                  <a:srgbClr val="334155"/>
                </a:solidFill>
                <a:latin typeface="Comic Sans MS"/>
                <a:ea typeface="Comic Sans MS"/>
                <a:cs typeface="Comic Sans MS"/>
                <a:sym typeface="Comic Sans MS"/>
              </a:defRPr>
            </a:pPr>
            <a:r>
              <a:t>Demonstrate solid mastery of Java core concepts: Object-Oriented Programming, Collections Framework (LinkedList, HashMap, TreeMap), Swing GUI, and Date API.</a:t>
            </a:r>
          </a:p>
        </p:txBody>
      </p:sp>
      <p:sp>
        <p:nvSpPr>
          <p:cNvPr id="119" name="Rounded Rectangle 11"/>
          <p:cNvSpPr/>
          <p:nvPr/>
        </p:nvSpPr>
        <p:spPr>
          <a:xfrm>
            <a:off x="6217920" y="3749037"/>
            <a:ext cx="5212080" cy="2103123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20" name="TextBox 12"/>
          <p:cNvSpPr txBox="1"/>
          <p:nvPr/>
        </p:nvSpPr>
        <p:spPr>
          <a:xfrm>
            <a:off x="6446518" y="3931921"/>
            <a:ext cx="4754884" cy="14757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b="1" sz="1600">
                <a:solidFill>
                  <a:srgbClr val="1E40AF"/>
                </a:solidFill>
                <a:latin typeface="Comic Sans MS"/>
                <a:ea typeface="Comic Sans MS"/>
                <a:cs typeface="Comic Sans MS"/>
                <a:sym typeface="Comic Sans MS"/>
              </a:defRPr>
            </a:pPr>
            <a:r>
              <a:t>4. Target Scope</a:t>
            </a:r>
          </a:p>
          <a:p>
            <a:pPr>
              <a:defRPr b="1" sz="1600">
                <a:solidFill>
                  <a:srgbClr val="1E40AF"/>
                </a:solidFill>
                <a:latin typeface="Comic Sans MS"/>
                <a:ea typeface="Comic Sans MS"/>
                <a:cs typeface="Comic Sans MS"/>
                <a:sym typeface="Comic Sans MS"/>
              </a:defRPr>
            </a:pPr>
          </a:p>
          <a:p>
            <a:pPr>
              <a:defRPr sz="1500">
                <a:solidFill>
                  <a:srgbClr val="334155"/>
                </a:solidFill>
                <a:latin typeface="Comic Sans MS"/>
                <a:ea typeface="Comic Sans MS"/>
                <a:cs typeface="Comic Sans MS"/>
                <a:sym typeface="Comic Sans MS"/>
              </a:defRPr>
            </a:pPr>
            <a:r>
              <a:t>Designed for small-to-medium hotel front-desk operators, providing structured data management with validation resilience.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23" name="TextBox 2"/>
          <p:cNvSpPr txBox="1"/>
          <p:nvPr/>
        </p:nvSpPr>
        <p:spPr>
          <a:xfrm>
            <a:off x="731519" y="365758"/>
            <a:ext cx="10698482" cy="596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000">
                <a:solidFill>
                  <a:srgbClr val="2563EB"/>
                </a:solidFill>
                <a:latin typeface="Comic Sans MS"/>
                <a:ea typeface="Comic Sans MS"/>
                <a:cs typeface="Comic Sans MS"/>
                <a:sym typeface="Comic Sans MS"/>
              </a:defRPr>
            </a:pPr>
            <a:r>
              <a:t>SLIDE 03  |  HOTEL ROOM BOOKING SYSTEM</a:t>
            </a:r>
          </a:p>
          <a:p>
            <a:pPr>
              <a:defRPr b="1" sz="2400">
                <a:solidFill>
                  <a:srgbClr val="0F172A"/>
                </a:solidFill>
                <a:latin typeface="Comic Sans MS"/>
                <a:ea typeface="Comic Sans MS"/>
                <a:cs typeface="Comic Sans MS"/>
                <a:sym typeface="Comic Sans MS"/>
              </a:defRPr>
            </a:pPr>
            <a:r>
              <a:t>Features &amp; Implemented Functionalities</a:t>
            </a:r>
          </a:p>
        </p:txBody>
      </p:sp>
      <p:sp>
        <p:nvSpPr>
          <p:cNvPr id="124" name="Rectangle 3"/>
          <p:cNvSpPr/>
          <p:nvPr/>
        </p:nvSpPr>
        <p:spPr>
          <a:xfrm>
            <a:off x="731518" y="1142999"/>
            <a:ext cx="10728659" cy="18291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25" name="TextBox 4"/>
          <p:cNvSpPr txBox="1"/>
          <p:nvPr/>
        </p:nvSpPr>
        <p:spPr>
          <a:xfrm>
            <a:off x="777238" y="6400800"/>
            <a:ext cx="2862799" cy="2059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sz="900">
                <a:solidFill>
                  <a:srgbClr val="64748B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ITM SKILL UNIVERSITY  |  B.Tech CSE 2025–2029 (Jeff Bezos)</a:t>
            </a:r>
          </a:p>
        </p:txBody>
      </p:sp>
      <p:sp>
        <p:nvSpPr>
          <p:cNvPr id="126" name="Rounded Rectangle 5"/>
          <p:cNvSpPr/>
          <p:nvPr/>
        </p:nvSpPr>
        <p:spPr>
          <a:xfrm>
            <a:off x="731519" y="1371600"/>
            <a:ext cx="3383282" cy="210312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27" name="TextBox 6"/>
          <p:cNvSpPr txBox="1"/>
          <p:nvPr/>
        </p:nvSpPr>
        <p:spPr>
          <a:xfrm>
            <a:off x="960119" y="1857180"/>
            <a:ext cx="2926083" cy="14630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b="1" sz="1500">
                <a:solidFill>
                  <a:srgbClr val="0F172A"/>
                </a:solidFill>
                <a:latin typeface="Comic Sans MS"/>
                <a:ea typeface="Comic Sans MS"/>
                <a:cs typeface="Comic Sans MS"/>
                <a:sym typeface="Comic Sans MS"/>
              </a:defRPr>
            </a:pPr>
            <a:r>
              <a:t>View Room</a:t>
            </a:r>
          </a:p>
          <a:p>
            <a:pPr>
              <a:defRPr b="1" sz="1100">
                <a:solidFill>
                  <a:srgbClr val="2563EB"/>
                </a:solidFill>
                <a:latin typeface="Comic Sans MS"/>
                <a:ea typeface="Comic Sans MS"/>
                <a:cs typeface="Comic Sans MS"/>
                <a:sym typeface="Comic Sans MS"/>
              </a:defRPr>
            </a:pPr>
            <a:r>
              <a:t>Lead: Om Sawant</a:t>
            </a:r>
          </a:p>
          <a:p>
            <a:pPr>
              <a:defRPr sz="1300">
                <a:solidFill>
                  <a:srgbClr val="334155"/>
                </a:solidFill>
                <a:latin typeface="Comic Sans MS"/>
                <a:ea typeface="Comic Sans MS"/>
                <a:cs typeface="Comic Sans MS"/>
                <a:sym typeface="Comic Sans MS"/>
              </a:defRPr>
            </a:pPr>
            <a:r>
              <a:t>Displays all rooms with room number, type (Single/Double/Deluxe), price per night, and availability status.</a:t>
            </a:r>
          </a:p>
        </p:txBody>
      </p:sp>
      <p:sp>
        <p:nvSpPr>
          <p:cNvPr id="128" name="Rounded Rectangle 7"/>
          <p:cNvSpPr/>
          <p:nvPr/>
        </p:nvSpPr>
        <p:spPr>
          <a:xfrm>
            <a:off x="4389120" y="1371600"/>
            <a:ext cx="3383280" cy="210312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29" name="TextBox 8"/>
          <p:cNvSpPr txBox="1"/>
          <p:nvPr/>
        </p:nvSpPr>
        <p:spPr>
          <a:xfrm>
            <a:off x="4626609" y="1922321"/>
            <a:ext cx="2926083" cy="12344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b="1" sz="1500">
                <a:solidFill>
                  <a:srgbClr val="0F172A"/>
                </a:solidFill>
                <a:latin typeface="Comic Sans MS"/>
                <a:ea typeface="Comic Sans MS"/>
                <a:cs typeface="Comic Sans MS"/>
                <a:sym typeface="Comic Sans MS"/>
              </a:defRPr>
            </a:pPr>
            <a:r>
              <a:t>Search Room</a:t>
            </a:r>
          </a:p>
          <a:p>
            <a:pPr>
              <a:defRPr b="1" sz="1100">
                <a:solidFill>
                  <a:srgbClr val="2563EB"/>
                </a:solidFill>
                <a:latin typeface="Comic Sans MS"/>
                <a:ea typeface="Comic Sans MS"/>
                <a:cs typeface="Comic Sans MS"/>
                <a:sym typeface="Comic Sans MS"/>
              </a:defRPr>
            </a:pPr>
            <a:r>
              <a:t>Lead: Om Maurya</a:t>
            </a:r>
          </a:p>
          <a:p>
            <a:pPr>
              <a:defRPr sz="1300">
                <a:solidFill>
                  <a:srgbClr val="334155"/>
                </a:solidFill>
                <a:latin typeface="Comic Sans MS"/>
                <a:ea typeface="Comic Sans MS"/>
                <a:cs typeface="Comic Sans MS"/>
                <a:sym typeface="Comic Sans MS"/>
              </a:defRPr>
            </a:pPr>
            <a:r>
              <a:t>Instant O(1) average-time room lookup by room number using HashMap&lt;Integer, Room&gt;.</a:t>
            </a:r>
          </a:p>
        </p:txBody>
      </p:sp>
      <p:sp>
        <p:nvSpPr>
          <p:cNvPr id="130" name="Rounded Rectangle 9"/>
          <p:cNvSpPr/>
          <p:nvPr/>
        </p:nvSpPr>
        <p:spPr>
          <a:xfrm>
            <a:off x="8046718" y="1371600"/>
            <a:ext cx="3383282" cy="210312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31" name="TextBox 10"/>
          <p:cNvSpPr txBox="1"/>
          <p:nvPr/>
        </p:nvSpPr>
        <p:spPr>
          <a:xfrm>
            <a:off x="8275318" y="1948357"/>
            <a:ext cx="2926083" cy="12344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b="1" sz="1500">
                <a:solidFill>
                  <a:srgbClr val="0F172A"/>
                </a:solidFill>
                <a:latin typeface="Comic Sans MS"/>
                <a:ea typeface="Comic Sans MS"/>
                <a:cs typeface="Comic Sans MS"/>
                <a:sym typeface="Comic Sans MS"/>
              </a:defRPr>
            </a:pPr>
            <a:r>
              <a:t>Book Room</a:t>
            </a:r>
          </a:p>
          <a:p>
            <a:pPr>
              <a:defRPr b="1" sz="1100">
                <a:solidFill>
                  <a:srgbClr val="2563EB"/>
                </a:solidFill>
                <a:latin typeface="Comic Sans MS"/>
                <a:ea typeface="Comic Sans MS"/>
                <a:cs typeface="Comic Sans MS"/>
                <a:sym typeface="Comic Sans MS"/>
              </a:defRPr>
            </a:pPr>
            <a:r>
              <a:t>Lead: Vyom Shah</a:t>
            </a:r>
          </a:p>
          <a:p>
            <a:pPr>
              <a:defRPr sz="1300">
                <a:solidFill>
                  <a:srgbClr val="334155"/>
                </a:solidFill>
                <a:latin typeface="Comic Sans MS"/>
                <a:ea typeface="Comic Sans MS"/>
                <a:cs typeface="Comic Sans MS"/>
                <a:sym typeface="Comic Sans MS"/>
              </a:defRPr>
            </a:pPr>
            <a:r>
              <a:t>Full reservation flow capturing guest details, check-in/out dates, auto night calculation &amp; billing.</a:t>
            </a:r>
          </a:p>
        </p:txBody>
      </p:sp>
      <p:sp>
        <p:nvSpPr>
          <p:cNvPr id="132" name="Rounded Rectangle 11"/>
          <p:cNvSpPr/>
          <p:nvPr/>
        </p:nvSpPr>
        <p:spPr>
          <a:xfrm>
            <a:off x="731519" y="3749037"/>
            <a:ext cx="3383282" cy="2103123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33" name="TextBox 12"/>
          <p:cNvSpPr txBox="1"/>
          <p:nvPr/>
        </p:nvSpPr>
        <p:spPr>
          <a:xfrm>
            <a:off x="960119" y="4265887"/>
            <a:ext cx="2926083" cy="12344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b="1" sz="1500">
                <a:solidFill>
                  <a:srgbClr val="0F172A"/>
                </a:solidFill>
                <a:latin typeface="Comic Sans MS"/>
                <a:ea typeface="Comic Sans MS"/>
                <a:cs typeface="Comic Sans MS"/>
                <a:sym typeface="Comic Sans MS"/>
              </a:defRPr>
            </a:pPr>
            <a:r>
              <a:t>Cancel Bookings</a:t>
            </a:r>
          </a:p>
          <a:p>
            <a:pPr>
              <a:defRPr b="1" sz="1100">
                <a:solidFill>
                  <a:srgbClr val="2563EB"/>
                </a:solidFill>
                <a:latin typeface="Comic Sans MS"/>
                <a:ea typeface="Comic Sans MS"/>
                <a:cs typeface="Comic Sans MS"/>
                <a:sym typeface="Comic Sans MS"/>
              </a:defRPr>
            </a:pPr>
            <a:r>
              <a:t>Lead: Kushal Nakrani</a:t>
            </a:r>
          </a:p>
          <a:p>
            <a:pPr>
              <a:defRPr sz="1300">
                <a:solidFill>
                  <a:srgbClr val="334155"/>
                </a:solidFill>
                <a:latin typeface="Comic Sans MS"/>
                <a:ea typeface="Comic Sans MS"/>
                <a:cs typeface="Comic Sans MS"/>
                <a:sym typeface="Comic Sans MS"/>
              </a:defRPr>
            </a:pPr>
            <a:r>
              <a:t>Cancels active reservations by ID, restoring room availability status back to true.</a:t>
            </a:r>
          </a:p>
        </p:txBody>
      </p:sp>
      <p:sp>
        <p:nvSpPr>
          <p:cNvPr id="134" name="Rounded Rectangle 13"/>
          <p:cNvSpPr/>
          <p:nvPr/>
        </p:nvSpPr>
        <p:spPr>
          <a:xfrm>
            <a:off x="4389120" y="3749037"/>
            <a:ext cx="3383280" cy="2103123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35" name="TextBox 14"/>
          <p:cNvSpPr txBox="1"/>
          <p:nvPr/>
        </p:nvSpPr>
        <p:spPr>
          <a:xfrm>
            <a:off x="4626609" y="4271449"/>
            <a:ext cx="2926083" cy="12344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b="1" sz="1500">
                <a:solidFill>
                  <a:srgbClr val="0F172A"/>
                </a:solidFill>
                <a:latin typeface="Comic Sans MS"/>
                <a:ea typeface="Comic Sans MS"/>
                <a:cs typeface="Comic Sans MS"/>
                <a:sym typeface="Comic Sans MS"/>
              </a:defRPr>
            </a:pPr>
            <a:r>
              <a:t>View Bookings</a:t>
            </a:r>
          </a:p>
          <a:p>
            <a:pPr>
              <a:defRPr b="1" sz="1100">
                <a:solidFill>
                  <a:srgbClr val="2563EB"/>
                </a:solidFill>
                <a:latin typeface="Comic Sans MS"/>
                <a:ea typeface="Comic Sans MS"/>
                <a:cs typeface="Comic Sans MS"/>
                <a:sym typeface="Comic Sans MS"/>
              </a:defRPr>
            </a:pPr>
            <a:r>
              <a:t>Lead: Prince Singh</a:t>
            </a:r>
          </a:p>
          <a:p>
            <a:pPr>
              <a:defRPr sz="1300">
                <a:solidFill>
                  <a:srgbClr val="334155"/>
                </a:solidFill>
                <a:latin typeface="Comic Sans MS"/>
                <a:ea typeface="Comic Sans MS"/>
                <a:cs typeface="Comic Sans MS"/>
                <a:sym typeface="Comic Sans MS"/>
              </a:defRPr>
            </a:pPr>
            <a:r>
              <a:t>Retrieves and formats all active reservation records stored in LinkedList&lt;Booking&gt;.</a:t>
            </a:r>
          </a:p>
        </p:txBody>
      </p:sp>
      <p:sp>
        <p:nvSpPr>
          <p:cNvPr id="136" name="Rounded Rectangle 15"/>
          <p:cNvSpPr/>
          <p:nvPr/>
        </p:nvSpPr>
        <p:spPr>
          <a:xfrm>
            <a:off x="8046718" y="3749037"/>
            <a:ext cx="3383282" cy="2103123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37" name="TextBox 16"/>
          <p:cNvSpPr txBox="1"/>
          <p:nvPr/>
        </p:nvSpPr>
        <p:spPr>
          <a:xfrm>
            <a:off x="8293099" y="4271449"/>
            <a:ext cx="2926082" cy="12344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b="1" sz="1500">
                <a:solidFill>
                  <a:srgbClr val="0F172A"/>
                </a:solidFill>
                <a:latin typeface="Comic Sans MS"/>
                <a:ea typeface="Comic Sans MS"/>
                <a:cs typeface="Comic Sans MS"/>
                <a:sym typeface="Comic Sans MS"/>
              </a:defRPr>
            </a:pPr>
            <a:r>
              <a:t>Input Validation</a:t>
            </a:r>
          </a:p>
          <a:p>
            <a:pPr>
              <a:defRPr b="1" sz="1100">
                <a:solidFill>
                  <a:srgbClr val="2563EB"/>
                </a:solidFill>
                <a:latin typeface="Comic Sans MS"/>
                <a:ea typeface="Comic Sans MS"/>
                <a:cs typeface="Comic Sans MS"/>
                <a:sym typeface="Comic Sans MS"/>
              </a:defRPr>
            </a:pPr>
            <a:r>
              <a:t>Lead: Core Resilience</a:t>
            </a:r>
          </a:p>
          <a:p>
            <a:pPr>
              <a:defRPr sz="1300">
                <a:solidFill>
                  <a:srgbClr val="334155"/>
                </a:solidFill>
                <a:latin typeface="Comic Sans MS"/>
                <a:ea typeface="Comic Sans MS"/>
                <a:cs typeface="Comic Sans MS"/>
                <a:sym typeface="Comic Sans MS"/>
              </a:defRPr>
            </a:pPr>
            <a:r>
              <a:t>Validates 10-digit phone strings, email regex patterns, date format (DD-MM-YYYY), and date ordering.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40" name="TextBox 2"/>
          <p:cNvSpPr txBox="1"/>
          <p:nvPr/>
        </p:nvSpPr>
        <p:spPr>
          <a:xfrm>
            <a:off x="731519" y="365758"/>
            <a:ext cx="10698482" cy="596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000">
                <a:solidFill>
                  <a:srgbClr val="2563EB"/>
                </a:solidFill>
                <a:latin typeface="Comic Sans MS"/>
                <a:ea typeface="Comic Sans MS"/>
                <a:cs typeface="Comic Sans MS"/>
                <a:sym typeface="Comic Sans MS"/>
              </a:defRPr>
            </a:pPr>
            <a:r>
              <a:t>SLIDE 04  |  HOTEL ROOM BOOKING SYSTEM</a:t>
            </a:r>
          </a:p>
          <a:p>
            <a:pPr>
              <a:defRPr b="1" sz="2400">
                <a:solidFill>
                  <a:srgbClr val="0F172A"/>
                </a:solidFill>
                <a:latin typeface="Comic Sans MS"/>
                <a:ea typeface="Comic Sans MS"/>
                <a:cs typeface="Comic Sans MS"/>
                <a:sym typeface="Comic Sans MS"/>
              </a:defRPr>
            </a:pPr>
            <a:r>
              <a:t>Java Concepts &amp; Technologies Applied</a:t>
            </a:r>
          </a:p>
        </p:txBody>
      </p:sp>
      <p:sp>
        <p:nvSpPr>
          <p:cNvPr id="141" name="Rectangle 3"/>
          <p:cNvSpPr/>
          <p:nvPr/>
        </p:nvSpPr>
        <p:spPr>
          <a:xfrm>
            <a:off x="731518" y="1142999"/>
            <a:ext cx="10728659" cy="18291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42" name="TextBox 4"/>
          <p:cNvSpPr txBox="1"/>
          <p:nvPr/>
        </p:nvSpPr>
        <p:spPr>
          <a:xfrm>
            <a:off x="777238" y="6400800"/>
            <a:ext cx="2862799" cy="2059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sz="900">
                <a:solidFill>
                  <a:srgbClr val="64748B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ITM SKILL UNIVERSITY  |  B.Tech CSE 2025–2029 (Jeff Bezos)</a:t>
            </a:r>
          </a:p>
        </p:txBody>
      </p:sp>
      <p:sp>
        <p:nvSpPr>
          <p:cNvPr id="143" name="Rounded Rectangle 5"/>
          <p:cNvSpPr/>
          <p:nvPr/>
        </p:nvSpPr>
        <p:spPr>
          <a:xfrm>
            <a:off x="731519" y="1371600"/>
            <a:ext cx="3383282" cy="210312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44" name="TextBox 6"/>
          <p:cNvSpPr txBox="1"/>
          <p:nvPr/>
        </p:nvSpPr>
        <p:spPr>
          <a:xfrm>
            <a:off x="960119" y="1508761"/>
            <a:ext cx="2926083" cy="13487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b="1" sz="1500">
                <a:solidFill>
                  <a:srgbClr val="1E40AF"/>
                </a:solidFill>
                <a:latin typeface="Comic Sans MS"/>
                <a:ea typeface="Comic Sans MS"/>
                <a:cs typeface="Comic Sans MS"/>
                <a:sym typeface="Comic Sans MS"/>
              </a:defRPr>
            </a:pPr>
            <a:r>
              <a:t>OOP / Classes &amp; Objects</a:t>
            </a:r>
          </a:p>
          <a:p>
            <a:pPr>
              <a:defRPr b="1" sz="1500">
                <a:solidFill>
                  <a:srgbClr val="1E40AF"/>
                </a:solidFill>
                <a:latin typeface="Comic Sans MS"/>
                <a:ea typeface="Comic Sans MS"/>
                <a:cs typeface="Comic Sans MS"/>
                <a:sym typeface="Comic Sans MS"/>
              </a:defRPr>
            </a:pPr>
          </a:p>
          <a:p>
            <a:pPr>
              <a:defRPr sz="1400">
                <a:solidFill>
                  <a:srgbClr val="334155"/>
                </a:solidFill>
                <a:latin typeface="Comic Sans MS"/>
                <a:ea typeface="Comic Sans MS"/>
                <a:cs typeface="Comic Sans MS"/>
                <a:sym typeface="Comic Sans MS"/>
              </a:defRPr>
            </a:pPr>
            <a:r>
              <a:t>5 domain models: Room, Customer, Booking, Hotel, HotelGUI encapsulating state &amp; methods.</a:t>
            </a:r>
          </a:p>
        </p:txBody>
      </p:sp>
      <p:sp>
        <p:nvSpPr>
          <p:cNvPr id="145" name="Rounded Rectangle 7"/>
          <p:cNvSpPr/>
          <p:nvPr/>
        </p:nvSpPr>
        <p:spPr>
          <a:xfrm>
            <a:off x="4389120" y="1371600"/>
            <a:ext cx="3383280" cy="210312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46" name="TextBox 8"/>
          <p:cNvSpPr txBox="1"/>
          <p:nvPr/>
        </p:nvSpPr>
        <p:spPr>
          <a:xfrm>
            <a:off x="4617718" y="1508761"/>
            <a:ext cx="2926083" cy="15900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b="1" sz="1500">
                <a:solidFill>
                  <a:srgbClr val="1E40AF"/>
                </a:solidFill>
                <a:latin typeface="Comic Sans MS"/>
                <a:ea typeface="Comic Sans MS"/>
                <a:cs typeface="Comic Sans MS"/>
                <a:sym typeface="Comic Sans MS"/>
              </a:defRPr>
            </a:pPr>
            <a:r>
              <a:t>Collections Framework</a:t>
            </a:r>
          </a:p>
          <a:p>
            <a:pPr>
              <a:defRPr b="1" sz="1500">
                <a:solidFill>
                  <a:srgbClr val="1E40AF"/>
                </a:solidFill>
                <a:latin typeface="Comic Sans MS"/>
                <a:ea typeface="Comic Sans MS"/>
                <a:cs typeface="Comic Sans MS"/>
                <a:sym typeface="Comic Sans MS"/>
              </a:defRPr>
            </a:pPr>
          </a:p>
          <a:p>
            <a:pPr>
              <a:defRPr sz="1400">
                <a:solidFill>
                  <a:srgbClr val="334155"/>
                </a:solidFill>
                <a:latin typeface="Comic Sans MS"/>
                <a:ea typeface="Comic Sans MS"/>
                <a:cs typeface="Comic Sans MS"/>
                <a:sym typeface="Comic Sans MS"/>
              </a:defRPr>
            </a:pPr>
            <a:r>
              <a:t>LinkedList&lt;Booking&gt; for transactions, HashMap for O(1) avg lookup, TreeMap for sorted order.</a:t>
            </a:r>
          </a:p>
        </p:txBody>
      </p:sp>
      <p:sp>
        <p:nvSpPr>
          <p:cNvPr id="147" name="Rounded Rectangle 9"/>
          <p:cNvSpPr/>
          <p:nvPr/>
        </p:nvSpPr>
        <p:spPr>
          <a:xfrm>
            <a:off x="8046718" y="1371600"/>
            <a:ext cx="3383282" cy="210312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48" name="TextBox 10"/>
          <p:cNvSpPr txBox="1"/>
          <p:nvPr/>
        </p:nvSpPr>
        <p:spPr>
          <a:xfrm>
            <a:off x="8275318" y="1508761"/>
            <a:ext cx="2926083" cy="13487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b="1" sz="1500">
                <a:solidFill>
                  <a:srgbClr val="1E40AF"/>
                </a:solidFill>
                <a:latin typeface="Comic Sans MS"/>
                <a:ea typeface="Comic Sans MS"/>
                <a:cs typeface="Comic Sans MS"/>
                <a:sym typeface="Comic Sans MS"/>
              </a:defRPr>
            </a:pPr>
            <a:r>
              <a:t>Java Swing GUI</a:t>
            </a:r>
          </a:p>
          <a:p>
            <a:pPr>
              <a:defRPr b="1" sz="1500">
                <a:solidFill>
                  <a:srgbClr val="1E40AF"/>
                </a:solidFill>
                <a:latin typeface="Comic Sans MS"/>
                <a:ea typeface="Comic Sans MS"/>
                <a:cs typeface="Comic Sans MS"/>
                <a:sym typeface="Comic Sans MS"/>
              </a:defRPr>
            </a:pPr>
          </a:p>
          <a:p>
            <a:pPr>
              <a:defRPr sz="1400">
                <a:solidFill>
                  <a:srgbClr val="334155"/>
                </a:solidFill>
                <a:latin typeface="Comic Sans MS"/>
                <a:ea typeface="Comic Sans MS"/>
                <a:cs typeface="Comic Sans MS"/>
                <a:sym typeface="Comic Sans MS"/>
              </a:defRPr>
            </a:pPr>
            <a:r>
              <a:t>JFrame, JPanel, JButton, JTextArea, JOptionPane with custom layout managers.</a:t>
            </a:r>
          </a:p>
        </p:txBody>
      </p:sp>
      <p:sp>
        <p:nvSpPr>
          <p:cNvPr id="149" name="Rounded Rectangle 11"/>
          <p:cNvSpPr/>
          <p:nvPr/>
        </p:nvSpPr>
        <p:spPr>
          <a:xfrm>
            <a:off x="731519" y="3749037"/>
            <a:ext cx="3383282" cy="2103123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0" name="TextBox 12"/>
          <p:cNvSpPr txBox="1"/>
          <p:nvPr/>
        </p:nvSpPr>
        <p:spPr>
          <a:xfrm>
            <a:off x="960119" y="3886201"/>
            <a:ext cx="2926083" cy="15900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b="1" sz="1500">
                <a:solidFill>
                  <a:srgbClr val="1E40AF"/>
                </a:solidFill>
                <a:latin typeface="Comic Sans MS"/>
                <a:ea typeface="Comic Sans MS"/>
                <a:cs typeface="Comic Sans MS"/>
                <a:sym typeface="Comic Sans MS"/>
              </a:defRPr>
            </a:pPr>
            <a:r>
              <a:t>Exception Handling</a:t>
            </a:r>
          </a:p>
          <a:p>
            <a:pPr>
              <a:defRPr b="1" sz="1500">
                <a:solidFill>
                  <a:srgbClr val="1E40AF"/>
                </a:solidFill>
                <a:latin typeface="Comic Sans MS"/>
                <a:ea typeface="Comic Sans MS"/>
                <a:cs typeface="Comic Sans MS"/>
                <a:sym typeface="Comic Sans MS"/>
              </a:defRPr>
            </a:pPr>
          </a:p>
          <a:p>
            <a:pPr>
              <a:defRPr sz="1400">
                <a:solidFill>
                  <a:srgbClr val="334155"/>
                </a:solidFill>
                <a:latin typeface="Comic Sans MS"/>
                <a:ea typeface="Comic Sans MS"/>
                <a:cs typeface="Comic Sans MS"/>
                <a:sym typeface="Comic Sans MS"/>
              </a:defRPr>
            </a:pPr>
            <a:r>
              <a:t>try-catch blocks catching NumberFormatException &amp; DateTimeParseException during user input.</a:t>
            </a:r>
          </a:p>
        </p:txBody>
      </p:sp>
      <p:sp>
        <p:nvSpPr>
          <p:cNvPr id="151" name="Rounded Rectangle 13"/>
          <p:cNvSpPr/>
          <p:nvPr/>
        </p:nvSpPr>
        <p:spPr>
          <a:xfrm>
            <a:off x="4389120" y="3749037"/>
            <a:ext cx="3383280" cy="2103123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2" name="TextBox 14"/>
          <p:cNvSpPr txBox="1"/>
          <p:nvPr/>
        </p:nvSpPr>
        <p:spPr>
          <a:xfrm>
            <a:off x="4617718" y="3886201"/>
            <a:ext cx="2926083" cy="13487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b="1" sz="1500">
                <a:solidFill>
                  <a:srgbClr val="1E40AF"/>
                </a:solidFill>
                <a:latin typeface="Comic Sans MS"/>
                <a:ea typeface="Comic Sans MS"/>
                <a:cs typeface="Comic Sans MS"/>
                <a:sym typeface="Comic Sans MS"/>
              </a:defRPr>
            </a:pPr>
            <a:r>
              <a:t>Java Date &amp; Time API</a:t>
            </a:r>
          </a:p>
          <a:p>
            <a:pPr>
              <a:defRPr b="1" sz="1500">
                <a:solidFill>
                  <a:srgbClr val="1E40AF"/>
                </a:solidFill>
                <a:latin typeface="Comic Sans MS"/>
                <a:ea typeface="Comic Sans MS"/>
                <a:cs typeface="Comic Sans MS"/>
                <a:sym typeface="Comic Sans MS"/>
              </a:defRPr>
            </a:pPr>
          </a:p>
          <a:p>
            <a:pPr>
              <a:defRPr sz="1400">
                <a:solidFill>
                  <a:srgbClr val="334155"/>
                </a:solidFill>
                <a:latin typeface="Comic Sans MS"/>
                <a:ea typeface="Comic Sans MS"/>
                <a:cs typeface="Comic Sans MS"/>
                <a:sym typeface="Comic Sans MS"/>
              </a:defRPr>
            </a:pPr>
            <a:r>
              <a:t>LocalDate, DateTimeFormatter, and ChronoUnit.DAYS for automatic stay &amp; bill computation.</a:t>
            </a:r>
          </a:p>
        </p:txBody>
      </p:sp>
      <p:sp>
        <p:nvSpPr>
          <p:cNvPr id="153" name="Rounded Rectangle 15"/>
          <p:cNvSpPr/>
          <p:nvPr/>
        </p:nvSpPr>
        <p:spPr>
          <a:xfrm>
            <a:off x="8046718" y="3749037"/>
            <a:ext cx="3383282" cy="2103123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defRPr>
            </a:pPr>
          </a:p>
        </p:txBody>
      </p:sp>
      <p:sp>
        <p:nvSpPr>
          <p:cNvPr id="154" name="TextBox 16"/>
          <p:cNvSpPr txBox="1"/>
          <p:nvPr/>
        </p:nvSpPr>
        <p:spPr>
          <a:xfrm>
            <a:off x="8275318" y="3886201"/>
            <a:ext cx="2926083" cy="13487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b="1" sz="1500">
                <a:solidFill>
                  <a:srgbClr val="1E40AF"/>
                </a:solidFill>
                <a:latin typeface="Comic Sans MS"/>
                <a:ea typeface="Comic Sans MS"/>
                <a:cs typeface="Comic Sans MS"/>
                <a:sym typeface="Comic Sans MS"/>
              </a:defRPr>
            </a:pPr>
            <a:r>
              <a:t>Regex &amp; Lambdas</a:t>
            </a:r>
          </a:p>
          <a:p>
            <a:pPr>
              <a:defRPr b="1" sz="1500">
                <a:solidFill>
                  <a:srgbClr val="1E40AF"/>
                </a:solidFill>
                <a:latin typeface="Comic Sans MS"/>
                <a:ea typeface="Comic Sans MS"/>
                <a:cs typeface="Comic Sans MS"/>
                <a:sym typeface="Comic Sans MS"/>
              </a:defRPr>
            </a:pPr>
          </a:p>
          <a:p>
            <a:pPr>
              <a:defRPr sz="1400">
                <a:solidFill>
                  <a:srgbClr val="334155"/>
                </a:solidFill>
                <a:latin typeface="Comic Sans MS"/>
                <a:ea typeface="Comic Sans MS"/>
                <a:cs typeface="Comic Sans MS"/>
                <a:sym typeface="Comic Sans MS"/>
              </a:defRPr>
            </a:pPr>
            <a:r>
              <a:t>Phone (\d{10}) &amp; email pattern matching; lambda syntax button.addActionListener(e -&gt; ...).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7" name="TextBox 2"/>
          <p:cNvSpPr txBox="1"/>
          <p:nvPr/>
        </p:nvSpPr>
        <p:spPr>
          <a:xfrm>
            <a:off x="731519" y="365758"/>
            <a:ext cx="10698482" cy="596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000">
                <a:solidFill>
                  <a:srgbClr val="2563EB"/>
                </a:solidFill>
                <a:latin typeface="Comic Sans MS"/>
                <a:ea typeface="Comic Sans MS"/>
                <a:cs typeface="Comic Sans MS"/>
                <a:sym typeface="Comic Sans MS"/>
              </a:defRPr>
            </a:pPr>
            <a:r>
              <a:t>SLIDE 05  |  HOTEL ROOM BOOKING SYSTEM</a:t>
            </a:r>
          </a:p>
          <a:p>
            <a:pPr>
              <a:defRPr b="1" sz="2400">
                <a:solidFill>
                  <a:srgbClr val="0F172A"/>
                </a:solidFill>
                <a:latin typeface="Comic Sans MS"/>
                <a:ea typeface="Comic Sans MS"/>
                <a:cs typeface="Comic Sans MS"/>
                <a:sym typeface="Comic Sans MS"/>
              </a:defRPr>
            </a:pPr>
            <a:r>
              <a:t>Project Workflow &amp; Class Architecture</a:t>
            </a:r>
          </a:p>
        </p:txBody>
      </p:sp>
      <p:sp>
        <p:nvSpPr>
          <p:cNvPr id="158" name="Rectangle 3"/>
          <p:cNvSpPr/>
          <p:nvPr/>
        </p:nvSpPr>
        <p:spPr>
          <a:xfrm>
            <a:off x="731518" y="1142999"/>
            <a:ext cx="10728659" cy="18291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9" name="TextBox 4"/>
          <p:cNvSpPr txBox="1"/>
          <p:nvPr/>
        </p:nvSpPr>
        <p:spPr>
          <a:xfrm>
            <a:off x="777238" y="6400800"/>
            <a:ext cx="2862799" cy="2059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sz="900">
                <a:solidFill>
                  <a:srgbClr val="64748B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ITM SKILL UNIVERSITY  |  B.Tech CSE 2025–2029 (Jeff Bezos)</a:t>
            </a:r>
          </a:p>
        </p:txBody>
      </p:sp>
      <p:sp>
        <p:nvSpPr>
          <p:cNvPr id="160" name="Rounded Rectangle 5"/>
          <p:cNvSpPr/>
          <p:nvPr/>
        </p:nvSpPr>
        <p:spPr>
          <a:xfrm>
            <a:off x="731519" y="1371600"/>
            <a:ext cx="4114802" cy="4754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1" name="TextBox 6"/>
          <p:cNvSpPr txBox="1"/>
          <p:nvPr/>
        </p:nvSpPr>
        <p:spPr>
          <a:xfrm>
            <a:off x="960119" y="1701547"/>
            <a:ext cx="3657601" cy="39395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b="1" sz="1600">
                <a:solidFill>
                  <a:srgbClr val="0F172A"/>
                </a:solidFill>
                <a:latin typeface="Comic Sans MS"/>
                <a:ea typeface="Comic Sans MS"/>
                <a:cs typeface="Comic Sans MS"/>
                <a:sym typeface="Comic Sans MS"/>
              </a:defRPr>
            </a:pPr>
            <a:r>
              <a:t>Program Execution Flow</a:t>
            </a:r>
          </a:p>
          <a:p>
            <a:pPr>
              <a:defRPr b="1" sz="1600">
                <a:solidFill>
                  <a:srgbClr val="0F172A"/>
                </a:solidFill>
                <a:latin typeface="Comic Sans MS"/>
                <a:ea typeface="Comic Sans MS"/>
                <a:cs typeface="Comic Sans MS"/>
                <a:sym typeface="Comic Sans MS"/>
              </a:defRPr>
            </a:pPr>
          </a:p>
          <a:p>
            <a:pPr>
              <a:defRPr b="1" sz="1600">
                <a:solidFill>
                  <a:srgbClr val="0F172A"/>
                </a:solidFill>
                <a:latin typeface="Comic Sans MS"/>
                <a:ea typeface="Comic Sans MS"/>
                <a:cs typeface="Comic Sans MS"/>
                <a:sym typeface="Comic Sans MS"/>
              </a:defRPr>
            </a:pPr>
          </a:p>
          <a:p>
            <a:pPr>
              <a:defRPr sz="1400">
                <a:solidFill>
                  <a:srgbClr val="334155"/>
                </a:solidFill>
                <a:latin typeface="Comic Sans MS"/>
                <a:ea typeface="Comic Sans MS"/>
                <a:cs typeface="Comic Sans MS"/>
                <a:sym typeface="Comic Sans MS"/>
              </a:defRPr>
            </a:pPr>
            <a:r>
              <a:t>1. Main.java → Initializes sample rooms &amp; constructs Hotel object</a:t>
            </a:r>
          </a:p>
          <a:p>
            <a:pPr>
              <a:defRPr sz="1400">
                <a:solidFill>
                  <a:srgbClr val="334155"/>
                </a:solidFill>
                <a:latin typeface="Comic Sans MS"/>
                <a:ea typeface="Comic Sans MS"/>
                <a:cs typeface="Comic Sans MS"/>
                <a:sym typeface="Comic Sans MS"/>
              </a:defRPr>
            </a:pPr>
            <a:r>
              <a:t>2. HotelGUI → Swing UI renders 6 action buttons</a:t>
            </a:r>
          </a:p>
          <a:p>
            <a:pPr>
              <a:defRPr sz="1400">
                <a:solidFill>
                  <a:srgbClr val="334155"/>
                </a:solidFill>
                <a:latin typeface="Comic Sans MS"/>
                <a:ea typeface="Comic Sans MS"/>
                <a:cs typeface="Comic Sans MS"/>
                <a:sym typeface="Comic Sans MS"/>
              </a:defRPr>
            </a:pPr>
            <a:r>
              <a:t>3. User Action → Clicks menu button (Book, Search, Cancel)</a:t>
            </a:r>
          </a:p>
          <a:p>
            <a:pPr>
              <a:defRPr sz="1400">
                <a:solidFill>
                  <a:srgbClr val="334155"/>
                </a:solidFill>
                <a:latin typeface="Comic Sans MS"/>
                <a:ea typeface="Comic Sans MS"/>
                <a:cs typeface="Comic Sans MS"/>
                <a:sym typeface="Comic Sans MS"/>
              </a:defRPr>
            </a:pPr>
            <a:r>
              <a:t>4. Validation → Checks phone, email &amp; date formats in GUI</a:t>
            </a:r>
          </a:p>
          <a:p>
            <a:pPr>
              <a:defRPr sz="1400">
                <a:solidFill>
                  <a:srgbClr val="334155"/>
                </a:solidFill>
                <a:latin typeface="Comic Sans MS"/>
                <a:ea typeface="Comic Sans MS"/>
                <a:cs typeface="Comic Sans MS"/>
                <a:sym typeface="Comic Sans MS"/>
              </a:defRPr>
            </a:pPr>
            <a:r>
              <a:t>5. Business Logic → Hotel handles HashMap lookup or LinkedList update</a:t>
            </a:r>
          </a:p>
          <a:p>
            <a:pPr>
              <a:defRPr sz="1400">
                <a:solidFill>
                  <a:srgbClr val="334155"/>
                </a:solidFill>
                <a:latin typeface="Comic Sans MS"/>
                <a:ea typeface="Comic Sans MS"/>
                <a:cs typeface="Comic Sans MS"/>
                <a:sym typeface="Comic Sans MS"/>
              </a:defRPr>
            </a:pPr>
            <a:r>
              <a:t>6. Output → JOptionPane popups or JTextArea table render</a:t>
            </a:r>
          </a:p>
        </p:txBody>
      </p:sp>
      <p:sp>
        <p:nvSpPr>
          <p:cNvPr id="162" name="Rounded Rectangle 7"/>
          <p:cNvSpPr/>
          <p:nvPr/>
        </p:nvSpPr>
        <p:spPr>
          <a:xfrm>
            <a:off x="5120640" y="1371600"/>
            <a:ext cx="6309360" cy="86868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3" name="TextBox 8"/>
          <p:cNvSpPr txBox="1"/>
          <p:nvPr/>
        </p:nvSpPr>
        <p:spPr>
          <a:xfrm>
            <a:off x="5349240" y="1463039"/>
            <a:ext cx="5852162" cy="7772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b="1" sz="1300">
                <a:solidFill>
                  <a:srgbClr val="2563EB"/>
                </a:solidFill>
                <a:latin typeface="Comic Sans MS"/>
                <a:ea typeface="Comic Sans MS"/>
                <a:cs typeface="Comic Sans MS"/>
                <a:sym typeface="Comic Sans MS"/>
              </a:defRPr>
            </a:pPr>
            <a:r>
              <a:t>Room.java</a:t>
            </a:r>
          </a:p>
          <a:p>
            <a:pPr>
              <a:defRPr b="1" sz="1300">
                <a:solidFill>
                  <a:srgbClr val="2563EB"/>
                </a:solidFill>
                <a:latin typeface="Comic Sans MS"/>
                <a:ea typeface="Comic Sans MS"/>
                <a:cs typeface="Comic Sans MS"/>
                <a:sym typeface="Comic Sans MS"/>
              </a:defRPr>
            </a:pPr>
          </a:p>
          <a:p>
            <a:pPr>
              <a:defRPr sz="1300">
                <a:solidFill>
                  <a:srgbClr val="334155"/>
                </a:solidFill>
                <a:latin typeface="Comic Sans MS"/>
                <a:ea typeface="Comic Sans MS"/>
                <a:cs typeface="Comic Sans MS"/>
                <a:sym typeface="Comic Sans MS"/>
              </a:defRPr>
            </a:pPr>
            <a:r>
              <a:t>Properties: roomNumber, roomType, pricePerNight, available state.</a:t>
            </a:r>
          </a:p>
        </p:txBody>
      </p:sp>
      <p:sp>
        <p:nvSpPr>
          <p:cNvPr id="164" name="Rounded Rectangle 9"/>
          <p:cNvSpPr/>
          <p:nvPr/>
        </p:nvSpPr>
        <p:spPr>
          <a:xfrm>
            <a:off x="5120640" y="2304288"/>
            <a:ext cx="6309360" cy="86868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defRPr>
            </a:pPr>
          </a:p>
        </p:txBody>
      </p:sp>
      <p:sp>
        <p:nvSpPr>
          <p:cNvPr id="165" name="TextBox 10"/>
          <p:cNvSpPr txBox="1"/>
          <p:nvPr/>
        </p:nvSpPr>
        <p:spPr>
          <a:xfrm>
            <a:off x="5349240" y="2395727"/>
            <a:ext cx="5852162" cy="7772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b="1" sz="1300">
                <a:solidFill>
                  <a:srgbClr val="2563EB"/>
                </a:solidFill>
                <a:latin typeface="Comic Sans MS"/>
                <a:ea typeface="Comic Sans MS"/>
                <a:cs typeface="Comic Sans MS"/>
                <a:sym typeface="Comic Sans MS"/>
              </a:defRPr>
            </a:pPr>
            <a:r>
              <a:t>Customer.java</a:t>
            </a:r>
          </a:p>
          <a:p>
            <a:pPr>
              <a:defRPr b="1" sz="1300">
                <a:solidFill>
                  <a:srgbClr val="2563EB"/>
                </a:solidFill>
                <a:latin typeface="Comic Sans MS"/>
                <a:ea typeface="Comic Sans MS"/>
                <a:cs typeface="Comic Sans MS"/>
                <a:sym typeface="Comic Sans MS"/>
              </a:defRPr>
            </a:pPr>
          </a:p>
          <a:p>
            <a:pPr>
              <a:defRPr sz="1300">
                <a:solidFill>
                  <a:srgbClr val="334155"/>
                </a:solidFill>
                <a:latin typeface="Comic Sans MS"/>
                <a:ea typeface="Comic Sans MS"/>
                <a:cs typeface="Comic Sans MS"/>
                <a:sym typeface="Comic Sans MS"/>
              </a:defRPr>
            </a:pPr>
            <a:r>
              <a:t>Properties: customerId, name, phone, email.</a:t>
            </a:r>
          </a:p>
        </p:txBody>
      </p:sp>
      <p:sp>
        <p:nvSpPr>
          <p:cNvPr id="166" name="Rounded Rectangle 11"/>
          <p:cNvSpPr/>
          <p:nvPr/>
        </p:nvSpPr>
        <p:spPr>
          <a:xfrm>
            <a:off x="5120640" y="3236976"/>
            <a:ext cx="6309360" cy="86868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defRPr>
            </a:pPr>
          </a:p>
        </p:txBody>
      </p:sp>
      <p:sp>
        <p:nvSpPr>
          <p:cNvPr id="167" name="TextBox 12"/>
          <p:cNvSpPr txBox="1"/>
          <p:nvPr/>
        </p:nvSpPr>
        <p:spPr>
          <a:xfrm>
            <a:off x="5349240" y="3295397"/>
            <a:ext cx="5852162" cy="7518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b="1" sz="1300">
                <a:solidFill>
                  <a:srgbClr val="2563EB"/>
                </a:solidFill>
                <a:latin typeface="Comic Sans MS"/>
                <a:ea typeface="Comic Sans MS"/>
                <a:cs typeface="Comic Sans MS"/>
                <a:sym typeface="Comic Sans MS"/>
              </a:defRPr>
            </a:pPr>
            <a:r>
              <a:t>Booking.java</a:t>
            </a:r>
          </a:p>
          <a:p>
            <a:pPr>
              <a:defRPr b="1" sz="1300">
                <a:solidFill>
                  <a:srgbClr val="2563EB"/>
                </a:solidFill>
                <a:latin typeface="Comic Sans MS"/>
                <a:ea typeface="Comic Sans MS"/>
                <a:cs typeface="Comic Sans MS"/>
                <a:sym typeface="Comic Sans MS"/>
              </a:defRPr>
            </a:pPr>
          </a:p>
          <a:p>
            <a:pPr>
              <a:defRPr sz="1200">
                <a:solidFill>
                  <a:srgbClr val="334155"/>
                </a:solidFill>
                <a:latin typeface="Comic Sans MS"/>
                <a:ea typeface="Comic Sans MS"/>
                <a:cs typeface="Comic Sans MS"/>
                <a:sym typeface="Comic Sans MS"/>
              </a:defRPr>
            </a:pPr>
            <a:r>
              <a:t>Properties: bookingId, customer, room, checkIn, checkOut, nights, totalAmount.</a:t>
            </a:r>
          </a:p>
        </p:txBody>
      </p:sp>
      <p:sp>
        <p:nvSpPr>
          <p:cNvPr id="168" name="Rounded Rectangle 13"/>
          <p:cNvSpPr/>
          <p:nvPr/>
        </p:nvSpPr>
        <p:spPr>
          <a:xfrm>
            <a:off x="5120640" y="4169664"/>
            <a:ext cx="6309360" cy="86868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9" name="TextBox 14"/>
          <p:cNvSpPr txBox="1"/>
          <p:nvPr/>
        </p:nvSpPr>
        <p:spPr>
          <a:xfrm>
            <a:off x="5349240" y="4261104"/>
            <a:ext cx="5852162" cy="739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b="1" sz="1300">
                <a:solidFill>
                  <a:srgbClr val="2563EB"/>
                </a:solidFill>
                <a:latin typeface="Comic Sans MS"/>
                <a:ea typeface="Comic Sans MS"/>
                <a:cs typeface="Comic Sans MS"/>
                <a:sym typeface="Comic Sans MS"/>
              </a:defRPr>
            </a:pPr>
            <a:r>
              <a:t>Hotel.java</a:t>
            </a:r>
          </a:p>
          <a:p>
            <a:pPr>
              <a:defRPr b="1" sz="1300">
                <a:solidFill>
                  <a:srgbClr val="2563EB"/>
                </a:solidFill>
                <a:latin typeface="Comic Sans MS"/>
                <a:ea typeface="Comic Sans MS"/>
                <a:cs typeface="Comic Sans MS"/>
                <a:sym typeface="Comic Sans MS"/>
              </a:defRPr>
            </a:pPr>
          </a:p>
          <a:p>
            <a:pPr>
              <a:defRPr sz="1100">
                <a:solidFill>
                  <a:srgbClr val="334155"/>
                </a:solidFill>
                <a:latin typeface="Comic Sans MS"/>
                <a:ea typeface="Comic Sans MS"/>
                <a:cs typeface="Comic Sans MS"/>
                <a:sym typeface="Comic Sans MS"/>
              </a:defRPr>
            </a:pPr>
            <a:r>
              <a:t>Data Engine: rooms[], bookings LinkedList, roomMap HashMap, sortedRooms TreeMap.</a:t>
            </a:r>
          </a:p>
        </p:txBody>
      </p:sp>
      <p:sp>
        <p:nvSpPr>
          <p:cNvPr id="170" name="Rounded Rectangle 15"/>
          <p:cNvSpPr/>
          <p:nvPr/>
        </p:nvSpPr>
        <p:spPr>
          <a:xfrm>
            <a:off x="5120640" y="5102352"/>
            <a:ext cx="6309360" cy="86868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1" name="TextBox 16"/>
          <p:cNvSpPr txBox="1"/>
          <p:nvPr/>
        </p:nvSpPr>
        <p:spPr>
          <a:xfrm>
            <a:off x="5349240" y="5193792"/>
            <a:ext cx="5852162" cy="7772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b="1" sz="1300">
                <a:solidFill>
                  <a:srgbClr val="2563EB"/>
                </a:solidFill>
                <a:latin typeface="Comic Sans MS"/>
                <a:ea typeface="Comic Sans MS"/>
                <a:cs typeface="Comic Sans MS"/>
                <a:sym typeface="Comic Sans MS"/>
              </a:defRPr>
            </a:pPr>
            <a:r>
              <a:t>HotelGUI.java</a:t>
            </a:r>
          </a:p>
          <a:p>
            <a:pPr>
              <a:defRPr b="1" sz="1300">
                <a:solidFill>
                  <a:srgbClr val="2563EB"/>
                </a:solidFill>
                <a:latin typeface="Comic Sans MS"/>
                <a:ea typeface="Comic Sans MS"/>
                <a:cs typeface="Comic Sans MS"/>
                <a:sym typeface="Comic Sans MS"/>
              </a:defRPr>
            </a:pPr>
          </a:p>
          <a:p>
            <a:pPr>
              <a:defRPr sz="1300">
                <a:solidFill>
                  <a:srgbClr val="334155"/>
                </a:solidFill>
                <a:latin typeface="Comic Sans MS"/>
                <a:ea typeface="Comic Sans MS"/>
                <a:cs typeface="Comic Sans MS"/>
                <a:sym typeface="Comic Sans MS"/>
              </a:defRPr>
            </a:pPr>
            <a:r>
              <a:t>UI View: JFrame layout, button creation, input validation, dialog displays.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4" name="TextBox 2"/>
          <p:cNvSpPr txBox="1"/>
          <p:nvPr/>
        </p:nvSpPr>
        <p:spPr>
          <a:xfrm>
            <a:off x="731519" y="365758"/>
            <a:ext cx="10698482" cy="596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000">
                <a:solidFill>
                  <a:srgbClr val="2563EB"/>
                </a:solidFill>
                <a:latin typeface="Comic Sans MS"/>
                <a:ea typeface="Comic Sans MS"/>
                <a:cs typeface="Comic Sans MS"/>
                <a:sym typeface="Comic Sans MS"/>
              </a:defRPr>
            </a:pPr>
            <a:r>
              <a:t>SLIDE 06  |  HOTEL ROOM BOOKING SYSTEM</a:t>
            </a:r>
          </a:p>
          <a:p>
            <a:pPr>
              <a:defRPr b="1" sz="2400">
                <a:solidFill>
                  <a:srgbClr val="0F172A"/>
                </a:solidFill>
                <a:latin typeface="Comic Sans MS"/>
                <a:ea typeface="Comic Sans MS"/>
                <a:cs typeface="Comic Sans MS"/>
                <a:sym typeface="Comic Sans MS"/>
              </a:defRPr>
            </a:pPr>
            <a:r>
              <a:t>Program Output &amp; Demonstration</a:t>
            </a:r>
          </a:p>
        </p:txBody>
      </p:sp>
      <p:sp>
        <p:nvSpPr>
          <p:cNvPr id="175" name="Rectangle 3"/>
          <p:cNvSpPr/>
          <p:nvPr/>
        </p:nvSpPr>
        <p:spPr>
          <a:xfrm>
            <a:off x="731518" y="1142999"/>
            <a:ext cx="10728659" cy="18291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6" name="TextBox 4"/>
          <p:cNvSpPr txBox="1"/>
          <p:nvPr/>
        </p:nvSpPr>
        <p:spPr>
          <a:xfrm>
            <a:off x="777238" y="6400800"/>
            <a:ext cx="2862799" cy="2059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sz="900">
                <a:solidFill>
                  <a:srgbClr val="64748B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ITM SKILL UNIVERSITY  |  B.Tech CSE 2025–2029 (Jeff Bezos)</a:t>
            </a:r>
          </a:p>
        </p:txBody>
      </p:sp>
      <p:sp>
        <p:nvSpPr>
          <p:cNvPr id="177" name="Rounded Rectangle 5"/>
          <p:cNvSpPr/>
          <p:nvPr/>
        </p:nvSpPr>
        <p:spPr>
          <a:xfrm>
            <a:off x="731519" y="1371600"/>
            <a:ext cx="5212082" cy="210312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8" name="TextBox 6"/>
          <p:cNvSpPr txBox="1"/>
          <p:nvPr/>
        </p:nvSpPr>
        <p:spPr>
          <a:xfrm>
            <a:off x="960118" y="1554479"/>
            <a:ext cx="4754884" cy="13487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b="1" sz="1500">
                <a:solidFill>
                  <a:srgbClr val="0F172A"/>
                </a:solidFill>
                <a:latin typeface="Comic Sans MS"/>
                <a:ea typeface="Comic Sans MS"/>
                <a:cs typeface="Comic Sans MS"/>
                <a:sym typeface="Comic Sans MS"/>
              </a:defRPr>
            </a:pPr>
            <a:r>
              <a:t>Main Dashboard Screen</a:t>
            </a:r>
          </a:p>
          <a:p>
            <a:pPr>
              <a:defRPr b="1" sz="1500">
                <a:solidFill>
                  <a:srgbClr val="0F172A"/>
                </a:solidFill>
                <a:latin typeface="Comic Sans MS"/>
                <a:ea typeface="Comic Sans MS"/>
                <a:cs typeface="Comic Sans MS"/>
                <a:sym typeface="Comic Sans MS"/>
              </a:defRPr>
            </a:pPr>
          </a:p>
          <a:p>
            <a:pPr>
              <a:defRPr sz="1400">
                <a:solidFill>
                  <a:srgbClr val="334155"/>
                </a:solidFill>
                <a:latin typeface="Comic Sans MS"/>
                <a:ea typeface="Comic Sans MS"/>
                <a:cs typeface="Comic Sans MS"/>
                <a:sym typeface="Comic Sans MS"/>
              </a:defRPr>
            </a:pPr>
            <a:r>
              <a:t>Hotel Room Booking System main window with 6 color-coded action buttons: View Rooms, Search Room, Book Room, Cancel Booking, View Bookings, Exit.</a:t>
            </a:r>
          </a:p>
        </p:txBody>
      </p:sp>
      <p:sp>
        <p:nvSpPr>
          <p:cNvPr id="179" name="Rounded Rectangle 7"/>
          <p:cNvSpPr/>
          <p:nvPr/>
        </p:nvSpPr>
        <p:spPr>
          <a:xfrm>
            <a:off x="6217920" y="1371600"/>
            <a:ext cx="5212080" cy="210312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80" name="TextBox 8"/>
          <p:cNvSpPr txBox="1"/>
          <p:nvPr/>
        </p:nvSpPr>
        <p:spPr>
          <a:xfrm>
            <a:off x="6446518" y="1554479"/>
            <a:ext cx="4754884" cy="13614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b="1" sz="1500">
                <a:solidFill>
                  <a:srgbClr val="0F172A"/>
                </a:solidFill>
                <a:latin typeface="Comic Sans MS"/>
                <a:ea typeface="Comic Sans MS"/>
                <a:cs typeface="Comic Sans MS"/>
                <a:sym typeface="Comic Sans MS"/>
              </a:defRPr>
            </a:pPr>
            <a:r>
              <a:t>View All Rooms Output</a:t>
            </a:r>
          </a:p>
          <a:p>
            <a:pPr>
              <a:defRPr b="1" sz="1500">
                <a:solidFill>
                  <a:srgbClr val="0F172A"/>
                </a:solidFill>
                <a:latin typeface="Comic Sans MS"/>
                <a:ea typeface="Comic Sans MS"/>
                <a:cs typeface="Comic Sans MS"/>
                <a:sym typeface="Comic Sans MS"/>
              </a:defRPr>
            </a:pPr>
          </a:p>
          <a:p>
            <a:pPr>
              <a:defRPr sz="1400">
                <a:solidFill>
                  <a:srgbClr val="334155"/>
                </a:solidFill>
                <a:latin typeface="Comic Sans MS"/>
                <a:ea typeface="Comic Sans MS"/>
                <a:cs typeface="Comic Sans MS"/>
                <a:sym typeface="Comic Sans MS"/>
              </a:defRPr>
            </a:pPr>
            <a:r>
              <a:t>Displays Room 101 to 106 with room type, tariff per night (₹1500–₹3500), and boolean availability status inside scrollable text window.</a:t>
            </a:r>
          </a:p>
        </p:txBody>
      </p:sp>
      <p:sp>
        <p:nvSpPr>
          <p:cNvPr id="181" name="Rounded Rectangle 9"/>
          <p:cNvSpPr/>
          <p:nvPr/>
        </p:nvSpPr>
        <p:spPr>
          <a:xfrm>
            <a:off x="731519" y="3749037"/>
            <a:ext cx="5212082" cy="2103123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82" name="TextBox 10"/>
          <p:cNvSpPr txBox="1"/>
          <p:nvPr/>
        </p:nvSpPr>
        <p:spPr>
          <a:xfrm>
            <a:off x="960118" y="3931921"/>
            <a:ext cx="4754884" cy="1374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b="1" sz="1500">
                <a:solidFill>
                  <a:srgbClr val="0F172A"/>
                </a:solidFill>
                <a:latin typeface="Comic Sans MS"/>
                <a:ea typeface="Comic Sans MS"/>
                <a:cs typeface="Comic Sans MS"/>
                <a:sym typeface="Comic Sans MS"/>
              </a:defRPr>
            </a:pPr>
            <a:r>
              <a:t>Booking &amp; Billing Calculation</a:t>
            </a:r>
          </a:p>
          <a:p>
            <a:pPr>
              <a:defRPr b="1" sz="1500">
                <a:solidFill>
                  <a:srgbClr val="0F172A"/>
                </a:solidFill>
                <a:latin typeface="Comic Sans MS"/>
                <a:ea typeface="Comic Sans MS"/>
                <a:cs typeface="Comic Sans MS"/>
                <a:sym typeface="Comic Sans MS"/>
              </a:defRPr>
            </a:pPr>
          </a:p>
          <a:p>
            <a:pPr>
              <a:defRPr sz="1400">
                <a:solidFill>
                  <a:srgbClr val="334155"/>
                </a:solidFill>
                <a:latin typeface="Comic Sans MS"/>
                <a:ea typeface="Comic Sans MS"/>
                <a:cs typeface="Comic Sans MS"/>
                <a:sym typeface="Comic Sans MS"/>
              </a:defRPr>
            </a:pPr>
            <a:r>
              <a:t>Customer profile creation + automatic night calculation (Check-in to Check-out) + total bill calculation (₹1500 × 2 nights = ₹3000).</a:t>
            </a:r>
          </a:p>
        </p:txBody>
      </p:sp>
      <p:sp>
        <p:nvSpPr>
          <p:cNvPr id="183" name="Rounded Rectangle 11"/>
          <p:cNvSpPr/>
          <p:nvPr/>
        </p:nvSpPr>
        <p:spPr>
          <a:xfrm>
            <a:off x="6217920" y="3749037"/>
            <a:ext cx="5212080" cy="2103123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84" name="TextBox 12"/>
          <p:cNvSpPr txBox="1"/>
          <p:nvPr/>
        </p:nvSpPr>
        <p:spPr>
          <a:xfrm>
            <a:off x="6446518" y="3931921"/>
            <a:ext cx="4754884" cy="13487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b="1" sz="1500">
                <a:solidFill>
                  <a:srgbClr val="0F172A"/>
                </a:solidFill>
                <a:latin typeface="Comic Sans MS"/>
                <a:ea typeface="Comic Sans MS"/>
                <a:cs typeface="Comic Sans MS"/>
                <a:sym typeface="Comic Sans MS"/>
              </a:defRPr>
            </a:pPr>
            <a:r>
              <a:t>Cancellation &amp; Validation</a:t>
            </a:r>
          </a:p>
          <a:p>
            <a:pPr>
              <a:defRPr b="1" sz="1500">
                <a:solidFill>
                  <a:srgbClr val="0F172A"/>
                </a:solidFill>
                <a:latin typeface="Comic Sans MS"/>
                <a:ea typeface="Comic Sans MS"/>
                <a:cs typeface="Comic Sans MS"/>
                <a:sym typeface="Comic Sans MS"/>
              </a:defRPr>
            </a:pPr>
          </a:p>
          <a:p>
            <a:pPr>
              <a:defRPr sz="1400">
                <a:solidFill>
                  <a:srgbClr val="334155"/>
                </a:solidFill>
                <a:latin typeface="Comic Sans MS"/>
                <a:ea typeface="Comic Sans MS"/>
                <a:cs typeface="Comic Sans MS"/>
                <a:sym typeface="Comic Sans MS"/>
              </a:defRPr>
            </a:pPr>
            <a:r>
              <a:t>Booking cancellation frees room back to available=true. Input validation blocks invalid phone, malformed email, or invalid date order.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87" name="TextBox 2"/>
          <p:cNvSpPr txBox="1"/>
          <p:nvPr/>
        </p:nvSpPr>
        <p:spPr>
          <a:xfrm>
            <a:off x="731519" y="365758"/>
            <a:ext cx="10698482" cy="596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000">
                <a:solidFill>
                  <a:srgbClr val="2563EB"/>
                </a:solidFill>
                <a:latin typeface="Comic Sans MS"/>
                <a:ea typeface="Comic Sans MS"/>
                <a:cs typeface="Comic Sans MS"/>
                <a:sym typeface="Comic Sans MS"/>
              </a:defRPr>
            </a:pPr>
            <a:r>
              <a:t>SLIDE 07  |  HOTEL ROOM BOOKING SYSTEM</a:t>
            </a:r>
          </a:p>
          <a:p>
            <a:pPr>
              <a:defRPr b="1" sz="2400">
                <a:solidFill>
                  <a:srgbClr val="0F172A"/>
                </a:solidFill>
                <a:latin typeface="Comic Sans MS"/>
                <a:ea typeface="Comic Sans MS"/>
                <a:cs typeface="Comic Sans MS"/>
                <a:sym typeface="Comic Sans MS"/>
              </a:defRPr>
            </a:pPr>
            <a:r>
              <a:t>Conclusion &amp; Future Scope</a:t>
            </a:r>
          </a:p>
        </p:txBody>
      </p:sp>
      <p:sp>
        <p:nvSpPr>
          <p:cNvPr id="188" name="Rectangle 3"/>
          <p:cNvSpPr/>
          <p:nvPr/>
        </p:nvSpPr>
        <p:spPr>
          <a:xfrm>
            <a:off x="731518" y="1142999"/>
            <a:ext cx="10728659" cy="18291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89" name="TextBox 4"/>
          <p:cNvSpPr txBox="1"/>
          <p:nvPr/>
        </p:nvSpPr>
        <p:spPr>
          <a:xfrm>
            <a:off x="777238" y="6400800"/>
            <a:ext cx="3663680" cy="2565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sz="900">
                <a:solidFill>
                  <a:srgbClr val="64748B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1pPr>
          </a:lstStyle>
          <a:p>
            <a:pPr/>
            <a:r>
              <a:t>ITM SKILL UNIVERSITY  |  B.Tech CSE 2025–2029 (Jeff Bezos)</a:t>
            </a:r>
          </a:p>
        </p:txBody>
      </p:sp>
      <p:sp>
        <p:nvSpPr>
          <p:cNvPr id="190" name="Rounded Rectangle 5"/>
          <p:cNvSpPr/>
          <p:nvPr/>
        </p:nvSpPr>
        <p:spPr>
          <a:xfrm>
            <a:off x="731519" y="1371600"/>
            <a:ext cx="5212082" cy="4754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91" name="TextBox 6"/>
          <p:cNvSpPr txBox="1"/>
          <p:nvPr/>
        </p:nvSpPr>
        <p:spPr>
          <a:xfrm>
            <a:off x="960119" y="2130231"/>
            <a:ext cx="4754882" cy="35712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b="1" sz="1600">
                <a:solidFill>
                  <a:srgbClr val="0F172A"/>
                </a:solidFill>
                <a:latin typeface="Comic Sans MS"/>
                <a:ea typeface="Comic Sans MS"/>
                <a:cs typeface="Comic Sans MS"/>
                <a:sym typeface="Comic Sans MS"/>
              </a:defRPr>
            </a:pPr>
            <a:r>
              <a:t>Project Summary &amp; Achievements</a:t>
            </a:r>
          </a:p>
          <a:p>
            <a:pPr>
              <a:defRPr b="1" sz="1600">
                <a:solidFill>
                  <a:srgbClr val="0F172A"/>
                </a:solidFill>
                <a:latin typeface="Comic Sans MS"/>
                <a:ea typeface="Comic Sans MS"/>
                <a:cs typeface="Comic Sans MS"/>
                <a:sym typeface="Comic Sans MS"/>
              </a:defRPr>
            </a:pPr>
          </a:p>
          <a:p>
            <a:pPr>
              <a:defRPr sz="1400">
                <a:solidFill>
                  <a:srgbClr val="334155"/>
                </a:solidFill>
                <a:latin typeface="Comic Sans MS"/>
                <a:ea typeface="Comic Sans MS"/>
                <a:cs typeface="Comic Sans MS"/>
                <a:sym typeface="Comic Sans MS"/>
              </a:defRPr>
            </a:pPr>
            <a:r>
              <a:t>✓ Built a fully operational GUI-based Hotel Management System using Java Swing.</a:t>
            </a:r>
          </a:p>
          <a:p>
            <a:pPr>
              <a:defRPr sz="1400">
                <a:solidFill>
                  <a:srgbClr val="334155"/>
                </a:solidFill>
                <a:latin typeface="Comic Sans MS"/>
                <a:ea typeface="Comic Sans MS"/>
                <a:cs typeface="Comic Sans MS"/>
                <a:sym typeface="Comic Sans MS"/>
              </a:defRPr>
            </a:pPr>
            <a:r>
              <a:t>✓ Implemented core OOP concepts: encapsulation, constructors, and method overriding.</a:t>
            </a:r>
          </a:p>
          <a:p>
            <a:pPr>
              <a:defRPr sz="1400">
                <a:solidFill>
                  <a:srgbClr val="334155"/>
                </a:solidFill>
                <a:latin typeface="Comic Sans MS"/>
                <a:ea typeface="Comic Sans MS"/>
                <a:cs typeface="Comic Sans MS"/>
                <a:sym typeface="Comic Sans MS"/>
              </a:defRPr>
            </a:pPr>
            <a:r>
              <a:t>✓ Optimized data structures using LinkedList, HashMap for O(1) avg lookup, and TreeMap.</a:t>
            </a:r>
          </a:p>
          <a:p>
            <a:pPr>
              <a:defRPr sz="1400">
                <a:solidFill>
                  <a:srgbClr val="334155"/>
                </a:solidFill>
                <a:latin typeface="Comic Sans MS"/>
                <a:ea typeface="Comic Sans MS"/>
                <a:cs typeface="Comic Sans MS"/>
                <a:sym typeface="Comic Sans MS"/>
              </a:defRPr>
            </a:pPr>
            <a:r>
              <a:t>✓ Applied modern Java 8 Date &amp; Time API for automated reservation night &amp; bill calculations.</a:t>
            </a:r>
          </a:p>
          <a:p>
            <a:pPr>
              <a:defRPr sz="1400">
                <a:solidFill>
                  <a:srgbClr val="334155"/>
                </a:solidFill>
                <a:latin typeface="Comic Sans MS"/>
                <a:ea typeface="Comic Sans MS"/>
                <a:cs typeface="Comic Sans MS"/>
                <a:sym typeface="Comic Sans MS"/>
              </a:defRPr>
            </a:pPr>
            <a:r>
              <a:t>✓ Enforced strict input validation and exception handling resilience.</a:t>
            </a:r>
          </a:p>
          <a:p>
            <a:pPr>
              <a:defRPr sz="1400">
                <a:solidFill>
                  <a:srgbClr val="334155"/>
                </a:solidFill>
                <a:latin typeface="Comic Sans MS"/>
                <a:ea typeface="Comic Sans MS"/>
                <a:cs typeface="Comic Sans MS"/>
                <a:sym typeface="Comic Sans MS"/>
              </a:defRPr>
            </a:pPr>
            <a:r>
              <a:t>✓ Successfully completed through collaborative team software development.</a:t>
            </a:r>
          </a:p>
        </p:txBody>
      </p:sp>
      <p:sp>
        <p:nvSpPr>
          <p:cNvPr id="192" name="Rounded Rectangle 7"/>
          <p:cNvSpPr/>
          <p:nvPr/>
        </p:nvSpPr>
        <p:spPr>
          <a:xfrm>
            <a:off x="6217920" y="1371600"/>
            <a:ext cx="5212080" cy="4754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93" name="TextBox 8"/>
          <p:cNvSpPr txBox="1"/>
          <p:nvPr/>
        </p:nvSpPr>
        <p:spPr>
          <a:xfrm>
            <a:off x="6446518" y="2147421"/>
            <a:ext cx="4754884" cy="3088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b="1" sz="1600">
                <a:solidFill>
                  <a:srgbClr val="2563EB"/>
                </a:solidFill>
                <a:latin typeface="Comic Sans MS"/>
                <a:ea typeface="Comic Sans MS"/>
                <a:cs typeface="Comic Sans MS"/>
                <a:sym typeface="Comic Sans MS"/>
              </a:defRPr>
            </a:pPr>
            <a:r>
              <a:t>Future Scope Possibilities</a:t>
            </a:r>
          </a:p>
          <a:p>
            <a:pPr>
              <a:defRPr b="1" sz="1600">
                <a:solidFill>
                  <a:srgbClr val="2563EB"/>
                </a:solidFill>
                <a:latin typeface="Comic Sans MS"/>
                <a:ea typeface="Comic Sans MS"/>
                <a:cs typeface="Comic Sans MS"/>
                <a:sym typeface="Comic Sans MS"/>
              </a:defRPr>
            </a:pPr>
          </a:p>
          <a:p>
            <a:pPr>
              <a:defRPr sz="1400">
                <a:solidFill>
                  <a:srgbClr val="334155"/>
                </a:solidFill>
                <a:latin typeface="Comic Sans MS"/>
                <a:ea typeface="Comic Sans MS"/>
                <a:cs typeface="Comic Sans MS"/>
                <a:sym typeface="Comic Sans MS"/>
              </a:defRPr>
            </a:pPr>
            <a:r>
              <a:t>1. Database Persistence: Connect JDBC with MySQL/PostgreSQL for permanent storage.</a:t>
            </a:r>
          </a:p>
          <a:p>
            <a:pPr>
              <a:defRPr sz="1400">
                <a:solidFill>
                  <a:srgbClr val="334155"/>
                </a:solidFill>
                <a:latin typeface="Comic Sans MS"/>
                <a:ea typeface="Comic Sans MS"/>
                <a:cs typeface="Comic Sans MS"/>
                <a:sym typeface="Comic Sans MS"/>
              </a:defRPr>
            </a:pPr>
            <a:r>
              <a:t>2. Multi-Role Authentication: Login portals for Front Desk Staff, Managers &amp; Guests.</a:t>
            </a:r>
          </a:p>
          <a:p>
            <a:pPr>
              <a:defRPr sz="1400">
                <a:solidFill>
                  <a:srgbClr val="334155"/>
                </a:solidFill>
                <a:latin typeface="Comic Sans MS"/>
                <a:ea typeface="Comic Sans MS"/>
                <a:cs typeface="Comic Sans MS"/>
                <a:sym typeface="Comic Sans MS"/>
              </a:defRPr>
            </a:pPr>
            <a:r>
              <a:t>3. Automated PDF Invoices: Export printable reservation receipts and billing summaries.</a:t>
            </a:r>
          </a:p>
          <a:p>
            <a:pPr>
              <a:defRPr sz="1400">
                <a:solidFill>
                  <a:srgbClr val="334155"/>
                </a:solidFill>
                <a:latin typeface="Comic Sans MS"/>
                <a:ea typeface="Comic Sans MS"/>
                <a:cs typeface="Comic Sans MS"/>
                <a:sym typeface="Comic Sans MS"/>
              </a:defRPr>
            </a:pPr>
            <a:r>
              <a:t>4. Payment Gateway Integration: Connect online payment processing APIs.</a:t>
            </a:r>
          </a:p>
          <a:p>
            <a:pPr>
              <a:defRPr sz="1400">
                <a:solidFill>
                  <a:srgbClr val="334155"/>
                </a:solidFill>
                <a:latin typeface="Comic Sans MS"/>
                <a:ea typeface="Comic Sans MS"/>
                <a:cs typeface="Comic Sans MS"/>
                <a:sym typeface="Comic Sans MS"/>
              </a:defRPr>
            </a:pPr>
            <a:r>
              <a:t>5. Web &amp; Cloud Interface: Extend backend to Spring Boot web application.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